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>
  <p:sldMasterIdLst>
    <p:sldMasterId id="2147483891" r:id="rId1"/>
  </p:sldMasterIdLst>
  <p:notesMasterIdLst>
    <p:notesMasterId r:id="rId7"/>
  </p:notesMasterIdLst>
  <p:handoutMasterIdLst>
    <p:handoutMasterId r:id="rId8"/>
  </p:handoutMasterIdLst>
  <p:sldIdLst>
    <p:sldId id="256" r:id="rId2"/>
    <p:sldId id="264" r:id="rId3"/>
    <p:sldId id="268" r:id="rId4"/>
    <p:sldId id="265" r:id="rId5"/>
    <p:sldId id="267" r:id="rId6"/>
  </p:sldIdLst>
  <p:sldSz cx="12192000" cy="6858000"/>
  <p:notesSz cx="6858000" cy="9144000"/>
  <p:embeddedFontLst>
    <p:embeddedFont>
      <p:font typeface="Calibri" panose="020F0502020204030204" pitchFamily="34" charset="0"/>
      <p:regular r:id="rId9"/>
      <p:bold r:id="rId10"/>
      <p:italic r:id="rId11"/>
      <p:boldItalic r:id="rId12"/>
    </p:embeddedFont>
    <p:embeddedFont>
      <p:font typeface="Open Sans" panose="020B0604020202020204" charset="0"/>
      <p:regular r:id="rId13"/>
      <p:bold r:id="rId14"/>
      <p:italic r:id="rId15"/>
      <p:boldItalic r:id="rId16"/>
    </p:embeddedFont>
    <p:embeddedFont>
      <p:font typeface="Open Sans Extrabold" panose="020B0604020202020204" charset="0"/>
      <p:bold r:id="rId17"/>
      <p:boldItalic r:id="rId18"/>
    </p:embeddedFont>
    <p:embeddedFont>
      <p:font typeface="Open Sans Light" panose="020B0604020202020204" charset="0"/>
      <p:regular r:id="rId19"/>
      <p:italic r:id="rId20"/>
    </p:embeddedFont>
    <p:embeddedFont>
      <p:font typeface="Open Sans Semibold" panose="020B0604020202020204" charset="0"/>
      <p:bold r:id="rId21"/>
      <p:boldItalic r:id="rId22"/>
    </p:embeddedFont>
  </p:embeddedFontLst>
  <p:defaultTextStyle>
    <a:defPPr>
      <a:defRPr lang="de-DE"/>
    </a:defPPr>
    <a:lvl1pPr marL="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1pPr>
    <a:lvl2pPr marL="41148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2pPr>
    <a:lvl3pPr marL="82296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3pPr>
    <a:lvl4pPr marL="123444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4pPr>
    <a:lvl5pPr marL="164592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5pPr>
    <a:lvl6pPr marL="205740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6pPr>
    <a:lvl7pPr marL="246888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7pPr>
    <a:lvl8pPr marL="288036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8pPr>
    <a:lvl9pPr marL="329184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abschnitt" id="{2939B5E8-EF71-43FF-B7B6-C3DB42F2B419}">
          <p14:sldIdLst>
            <p14:sldId id="256"/>
            <p14:sldId id="264"/>
            <p14:sldId id="268"/>
          </p14:sldIdLst>
        </p14:section>
        <p14:section name="Elemente des Corporate Design" id="{9B15DDF1-0A1C-4450-A2F2-FA4F67CF33BE}">
          <p14:sldIdLst>
            <p14:sldId id="265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Knöfel,Anja" initials="K" lastIdx="10" clrIdx="0">
    <p:extLst>
      <p:ext uri="{19B8F6BF-5375-455C-9EA6-DF929625EA0E}">
        <p15:presenceInfo xmlns:p15="http://schemas.microsoft.com/office/powerpoint/2012/main" userId="S-1-5-21-1982228756-150042506-1537001085-18851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3A983"/>
    <a:srgbClr val="009BA4"/>
    <a:srgbClr val="93C356"/>
    <a:srgbClr val="BCCF02"/>
    <a:srgbClr val="28618C"/>
    <a:srgbClr val="539DC5"/>
    <a:srgbClr val="02ACA8"/>
    <a:srgbClr val="F07D00"/>
    <a:srgbClr val="E02D8A"/>
    <a:srgbClr val="00A1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ittlere Formatvorlage 2 - Akz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ittlere Formatvorlage 2 - Akz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ittlere Formatvorlage 2 - Akz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8FB837D-C827-4EFA-A057-4D05807E0F7C}" styleName="Designformatvorlage 1 - Akz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68D230F3-CF80-4859-8CE7-A43EE81993B5}" styleName="Helle Formatvorlage 1 - Akz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D113A9D2-9D6B-4929-AA2D-F23B5EE8CBE7}" styleName="Designformatvorlage 2 - Akz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C2FFA5D-87B4-456A-9821-1D502468CF0F}" styleName="Designformatvorlage 1 - Akz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F1AB2-1976-4502-BF36-3FF5EA218861}" styleName="Mittlere Formatvorlage 4 - Akz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125E5076-3810-47DD-B79F-674D7AD40C01}" styleName="Dunkle Formatvorlage 1 - Akz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Helle Formatvorlage 2 - Akz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04" autoAdjust="0"/>
    <p:restoredTop sz="94660"/>
  </p:normalViewPr>
  <p:slideViewPr>
    <p:cSldViewPr snapToGrid="0" snapToObjects="1">
      <p:cViewPr>
        <p:scale>
          <a:sx n="81" d="100"/>
          <a:sy n="81" d="100"/>
        </p:scale>
        <p:origin x="3296" y="19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13" Type="http://schemas.openxmlformats.org/officeDocument/2006/relationships/font" Target="fonts/font5.fntdata"/><Relationship Id="rId18" Type="http://schemas.openxmlformats.org/officeDocument/2006/relationships/font" Target="fonts/font10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13.fntdata"/><Relationship Id="rId7" Type="http://schemas.openxmlformats.org/officeDocument/2006/relationships/notesMaster" Target="notesMasters/notesMaster1.xml"/><Relationship Id="rId12" Type="http://schemas.openxmlformats.org/officeDocument/2006/relationships/font" Target="fonts/font4.fntdata"/><Relationship Id="rId17" Type="http://schemas.openxmlformats.org/officeDocument/2006/relationships/font" Target="fonts/font9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8.fntdata"/><Relationship Id="rId20" Type="http://schemas.openxmlformats.org/officeDocument/2006/relationships/font" Target="fonts/font1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font" Target="fonts/font7.fntdata"/><Relationship Id="rId23" Type="http://schemas.openxmlformats.org/officeDocument/2006/relationships/commentAuthors" Target="commentAuthors.xml"/><Relationship Id="rId10" Type="http://schemas.openxmlformats.org/officeDocument/2006/relationships/font" Target="fonts/font2.fntdata"/><Relationship Id="rId19" Type="http://schemas.openxmlformats.org/officeDocument/2006/relationships/font" Target="fonts/font11.fntdata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font" Target="fonts/font6.fntdata"/><Relationship Id="rId22" Type="http://schemas.openxmlformats.org/officeDocument/2006/relationships/font" Target="fonts/font14.fntdata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AC6211-610F-44E5-BF19-D3CDF6EDD281}" type="datetimeFigureOut">
              <a:rPr lang="de-DE" smtClean="0"/>
              <a:t>19.11.2019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AD61AA8-FB04-42D1-9939-D1A1356F808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4315604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47435D3-23A6-45D3-8DFA-7317DC1E7A64}" type="datetimeFigureOut">
              <a:rPr lang="de-DE" smtClean="0"/>
              <a:t>19.11.2019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69AC09-DF60-43F4-96BF-67D4D9A7409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3318259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1_Titelfolie_T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eck 12"/>
          <p:cNvSpPr/>
          <p:nvPr/>
        </p:nvSpPr>
        <p:spPr>
          <a:xfrm>
            <a:off x="0" y="1025526"/>
            <a:ext cx="12192000" cy="5832476"/>
          </a:xfrm>
          <a:prstGeom prst="rect">
            <a:avLst/>
          </a:prstGeom>
          <a:gradFill>
            <a:gsLst>
              <a:gs pos="14000">
                <a:schemeClr val="tx2"/>
              </a:gs>
              <a:gs pos="100000">
                <a:schemeClr val="accent2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00"/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874714" y="4494775"/>
            <a:ext cx="10438871" cy="1334525"/>
          </a:xfrm>
        </p:spPr>
        <p:txBody>
          <a:bodyPr/>
          <a:lstStyle>
            <a:lvl1pPr marL="0" indent="0" algn="l">
              <a:buNone/>
              <a:defRPr>
                <a:solidFill>
                  <a:schemeClr val="bg1">
                    <a:alpha val="80000"/>
                  </a:schemeClr>
                </a:solidFill>
              </a:defRPr>
            </a:lvl1pPr>
            <a:lvl2pPr marL="4571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26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53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6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8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1999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0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 dirty="0"/>
              <a:t>Formatvorlage des Untertitelmasters durch Klicken bearbeiten</a:t>
            </a:r>
            <a:br>
              <a:rPr lang="de-DE" dirty="0"/>
            </a:br>
            <a:r>
              <a:rPr lang="de-DE" dirty="0"/>
              <a:t>Ort oder Anlass des Vortrags // Samstag, 13. Januar 2018</a:t>
            </a:r>
          </a:p>
        </p:txBody>
      </p:sp>
      <p:sp>
        <p:nvSpPr>
          <p:cNvPr id="26" name="Textplatzhalter 25"/>
          <p:cNvSpPr>
            <a:spLocks noGrp="1"/>
          </p:cNvSpPr>
          <p:nvPr>
            <p:ph type="body" sz="quarter" idx="10" hasCustomPrompt="1"/>
          </p:nvPr>
        </p:nvSpPr>
        <p:spPr>
          <a:xfrm>
            <a:off x="874713" y="2420841"/>
            <a:ext cx="10438873" cy="828676"/>
          </a:xfrm>
          <a:ln>
            <a:noFill/>
          </a:ln>
        </p:spPr>
        <p:txBody>
          <a:bodyPr/>
          <a:lstStyle>
            <a:lvl1pPr>
              <a:spcBef>
                <a:spcPts val="0"/>
              </a:spcBef>
              <a:defRPr sz="1600">
                <a:solidFill>
                  <a:schemeClr val="bg1">
                    <a:alpha val="80000"/>
                  </a:schemeClr>
                </a:solidFill>
              </a:defRPr>
            </a:lvl1pPr>
          </a:lstStyle>
          <a:p>
            <a:pPr lvl="0"/>
            <a:r>
              <a:rPr lang="de-DE" dirty="0"/>
              <a:t>Martin </a:t>
            </a:r>
            <a:r>
              <a:rPr lang="de-DE" dirty="0" err="1"/>
              <a:t>Eisoldt</a:t>
            </a:r>
            <a:br>
              <a:rPr lang="de-DE" dirty="0"/>
            </a:br>
            <a:r>
              <a:rPr lang="de-DE" dirty="0"/>
              <a:t>Struktureinheit  der TU Dresden</a:t>
            </a:r>
          </a:p>
        </p:txBody>
      </p:sp>
      <p:sp>
        <p:nvSpPr>
          <p:cNvPr id="4" name="Rechteck 3"/>
          <p:cNvSpPr/>
          <p:nvPr/>
        </p:nvSpPr>
        <p:spPr>
          <a:xfrm>
            <a:off x="0" y="1025525"/>
            <a:ext cx="12192000" cy="171451"/>
          </a:xfrm>
          <a:prstGeom prst="rect">
            <a:avLst/>
          </a:prstGeom>
          <a:solidFill>
            <a:schemeClr val="bg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00"/>
          </a:p>
        </p:txBody>
      </p:sp>
      <p:sp>
        <p:nvSpPr>
          <p:cNvPr id="10" name="Titel 1"/>
          <p:cNvSpPr>
            <a:spLocks noGrp="1"/>
          </p:cNvSpPr>
          <p:nvPr>
            <p:ph type="title" hasCustomPrompt="1"/>
          </p:nvPr>
        </p:nvSpPr>
        <p:spPr>
          <a:xfrm>
            <a:off x="874713" y="3392203"/>
            <a:ext cx="10438873" cy="972108"/>
          </a:xfrm>
          <a:ln>
            <a:noFill/>
          </a:ln>
        </p:spPr>
        <p:txBody>
          <a:bodyPr/>
          <a:lstStyle>
            <a:lvl1pPr>
              <a:defRPr sz="3200" b="1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Aufbau einer unabhängigen natürlich-sprachlichen Mensch-Roboter-Interaktion</a:t>
            </a:r>
          </a:p>
        </p:txBody>
      </p:sp>
      <p:pic>
        <p:nvPicPr>
          <p:cNvPr id="9" name="Grafik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92731" y="328249"/>
            <a:ext cx="1218534" cy="554589"/>
          </a:xfrm>
          <a:prstGeom prst="rect">
            <a:avLst/>
          </a:prstGeom>
        </p:spPr>
      </p:pic>
      <p:pic>
        <p:nvPicPr>
          <p:cNvPr id="11" name="Grafik 1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304" y="349731"/>
            <a:ext cx="1764738" cy="513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0912023"/>
      </p:ext>
    </p:extLst>
  </p:cSld>
  <p:clrMapOvr>
    <a:masterClrMapping/>
  </p:clrMapOvr>
  <p:hf hdr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folie_T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874712" y="4494775"/>
            <a:ext cx="10438873" cy="1334525"/>
          </a:xfrm>
        </p:spPr>
        <p:txBody>
          <a:bodyPr/>
          <a:lstStyle>
            <a:lvl1pPr marL="0" indent="0" algn="l">
              <a:buNone/>
              <a:defRPr>
                <a:solidFill>
                  <a:schemeClr val="bg2"/>
                </a:solidFill>
              </a:defRPr>
            </a:lvl1pPr>
            <a:lvl2pPr marL="4571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26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53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6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8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1999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0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 dirty="0"/>
              <a:t>Formatvorlage des Untertitelmasters durch Klicken bearbeiten</a:t>
            </a:r>
            <a:br>
              <a:rPr lang="de-DE" dirty="0"/>
            </a:br>
            <a:r>
              <a:rPr lang="de-DE" dirty="0"/>
              <a:t>Ort oder Anlass des Vortrags // Samstag, 13. Januar 2018</a:t>
            </a:r>
          </a:p>
        </p:txBody>
      </p:sp>
      <p:sp>
        <p:nvSpPr>
          <p:cNvPr id="26" name="Textplatzhalter 25"/>
          <p:cNvSpPr>
            <a:spLocks noGrp="1"/>
          </p:cNvSpPr>
          <p:nvPr>
            <p:ph type="body" sz="quarter" idx="10" hasCustomPrompt="1"/>
          </p:nvPr>
        </p:nvSpPr>
        <p:spPr>
          <a:xfrm>
            <a:off x="874713" y="2420841"/>
            <a:ext cx="10438873" cy="828676"/>
          </a:xfrm>
          <a:ln>
            <a:noFill/>
          </a:ln>
        </p:spPr>
        <p:txBody>
          <a:bodyPr/>
          <a:lstStyle>
            <a:lvl1pPr>
              <a:spcBef>
                <a:spcPts val="0"/>
              </a:spcBef>
              <a:defRPr sz="1600">
                <a:solidFill>
                  <a:schemeClr val="bg2"/>
                </a:solidFill>
              </a:defRPr>
            </a:lvl1pPr>
          </a:lstStyle>
          <a:p>
            <a:pPr lvl="0"/>
            <a:r>
              <a:rPr lang="de-DE" dirty="0"/>
              <a:t>Vorname Name</a:t>
            </a:r>
            <a:br>
              <a:rPr lang="de-DE" dirty="0"/>
            </a:br>
            <a:r>
              <a:rPr lang="de-DE" dirty="0"/>
              <a:t>Struktureinheit  der TU Dresden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74713" y="3392203"/>
            <a:ext cx="10438873" cy="972108"/>
          </a:xfrm>
          <a:ln>
            <a:noFill/>
          </a:ln>
        </p:spPr>
        <p:txBody>
          <a:bodyPr/>
          <a:lstStyle>
            <a:lvl1pPr>
              <a:defRPr sz="3200" b="1">
                <a:solidFill>
                  <a:schemeClr val="tx2"/>
                </a:solidFill>
              </a:defRPr>
            </a:lvl1pPr>
          </a:lstStyle>
          <a:p>
            <a:r>
              <a:rPr lang="de-DE" dirty="0"/>
              <a:t>Titelmasterformat</a:t>
            </a:r>
            <a:br>
              <a:rPr lang="de-DE" dirty="0"/>
            </a:br>
            <a:r>
              <a:rPr lang="de-DE" dirty="0"/>
              <a:t>durch Klicken bearbeiten</a:t>
            </a:r>
          </a:p>
        </p:txBody>
      </p:sp>
      <p:cxnSp>
        <p:nvCxnSpPr>
          <p:cNvPr id="8" name="Gerade Verbindung 14"/>
          <p:cNvCxnSpPr/>
          <p:nvPr/>
        </p:nvCxnSpPr>
        <p:spPr>
          <a:xfrm>
            <a:off x="0" y="1026000"/>
            <a:ext cx="121920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14"/>
          <p:cNvCxnSpPr/>
          <p:nvPr/>
        </p:nvCxnSpPr>
        <p:spPr>
          <a:xfrm>
            <a:off x="0" y="1206000"/>
            <a:ext cx="121920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Grafik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92731" y="328249"/>
            <a:ext cx="1218534" cy="554589"/>
          </a:xfrm>
          <a:prstGeom prst="rect">
            <a:avLst/>
          </a:prstGeom>
        </p:spPr>
      </p:pic>
      <p:pic>
        <p:nvPicPr>
          <p:cNvPr id="10" name="Grafik 9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304" y="349731"/>
            <a:ext cx="1764738" cy="513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5198478"/>
      </p:ext>
    </p:extLst>
  </p:cSld>
  <p:clrMapOvr>
    <a:masterClrMapping/>
  </p:clrMapOvr>
  <p:hf hd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0"/>
          </p:nvPr>
        </p:nvSpPr>
        <p:spPr>
          <a:xfrm>
            <a:off x="874711" y="1484313"/>
            <a:ext cx="10580688" cy="4344987"/>
          </a:xfrm>
        </p:spPr>
        <p:txBody>
          <a:bodyPr/>
          <a:lstStyle>
            <a:lvl1pPr>
              <a:spcBef>
                <a:spcPts val="1200"/>
              </a:spcBef>
              <a:defRPr/>
            </a:lvl1pPr>
            <a:lvl3pPr>
              <a:spcBef>
                <a:spcPts val="1200"/>
              </a:spcBef>
              <a:defRPr/>
            </a:lvl3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28119933"/>
      </p:ext>
    </p:extLst>
  </p:cSld>
  <p:clrMapOvr>
    <a:masterClrMapping/>
  </p:clrMapOvr>
  <p:hf hdr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/>
          <p:cNvSpPr/>
          <p:nvPr/>
        </p:nvSpPr>
        <p:spPr>
          <a:xfrm>
            <a:off x="0" y="2"/>
            <a:ext cx="12192000" cy="6129336"/>
          </a:xfrm>
          <a:prstGeom prst="rect">
            <a:avLst/>
          </a:prstGeom>
          <a:gradFill>
            <a:gsLst>
              <a:gs pos="14000">
                <a:schemeClr val="tx2"/>
              </a:gs>
              <a:gs pos="100000">
                <a:schemeClr val="accent2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0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74712" y="3387259"/>
            <a:ext cx="10580687" cy="1198491"/>
          </a:xfrm>
        </p:spPr>
        <p:txBody>
          <a:bodyPr/>
          <a:lstStyle>
            <a:lvl1pPr>
              <a:defRPr sz="3200" b="1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470678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5365749" y="1484313"/>
            <a:ext cx="6089649" cy="434498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9" name="Bildplatzhalter 7"/>
          <p:cNvSpPr>
            <a:spLocks noGrp="1"/>
          </p:cNvSpPr>
          <p:nvPr>
            <p:ph type="pic" sz="quarter" idx="13"/>
          </p:nvPr>
        </p:nvSpPr>
        <p:spPr>
          <a:xfrm>
            <a:off x="874711" y="1484313"/>
            <a:ext cx="4300539" cy="1332000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" name="Bildplatzhalter 7"/>
          <p:cNvSpPr>
            <a:spLocks noGrp="1"/>
          </p:cNvSpPr>
          <p:nvPr>
            <p:ph type="pic" sz="quarter" idx="14"/>
          </p:nvPr>
        </p:nvSpPr>
        <p:spPr>
          <a:xfrm>
            <a:off x="874712" y="2943181"/>
            <a:ext cx="4300537" cy="1332000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1" name="Bildplatzhalter 7"/>
          <p:cNvSpPr>
            <a:spLocks noGrp="1"/>
          </p:cNvSpPr>
          <p:nvPr>
            <p:ph type="pic" sz="quarter" idx="15"/>
          </p:nvPr>
        </p:nvSpPr>
        <p:spPr>
          <a:xfrm>
            <a:off x="874710" y="4402050"/>
            <a:ext cx="4300537" cy="1427249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291138792"/>
      </p:ext>
    </p:extLst>
  </p:cSld>
  <p:clrMapOvr>
    <a:masterClrMapping/>
  </p:clrMapOvr>
  <p:hf hd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9" name="Bildplatzhalter 7"/>
          <p:cNvSpPr>
            <a:spLocks noGrp="1"/>
          </p:cNvSpPr>
          <p:nvPr>
            <p:ph type="pic" sz="quarter" idx="13"/>
          </p:nvPr>
        </p:nvSpPr>
        <p:spPr>
          <a:xfrm>
            <a:off x="6267449" y="1484314"/>
            <a:ext cx="5187950" cy="4344985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7" name="Textplatzhalter 6"/>
          <p:cNvSpPr>
            <a:spLocks noGrp="1"/>
          </p:cNvSpPr>
          <p:nvPr>
            <p:ph type="body" sz="quarter" idx="14"/>
          </p:nvPr>
        </p:nvSpPr>
        <p:spPr>
          <a:xfrm>
            <a:off x="874713" y="1484314"/>
            <a:ext cx="5195887" cy="434498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70242763"/>
      </p:ext>
    </p:extLst>
  </p:cSld>
  <p:clrMapOvr>
    <a:masterClrMapping/>
  </p:clrMapOvr>
  <p:hf hdr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/>
          </p:nvPr>
        </p:nvSpPr>
        <p:spPr>
          <a:xfrm>
            <a:off x="874713" y="1484314"/>
            <a:ext cx="5195887" cy="434498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8" name="Textplatzhalter 7"/>
          <p:cNvSpPr>
            <a:spLocks noGrp="1"/>
          </p:cNvSpPr>
          <p:nvPr>
            <p:ph type="body" sz="quarter" idx="11"/>
          </p:nvPr>
        </p:nvSpPr>
        <p:spPr>
          <a:xfrm>
            <a:off x="6267449" y="1484315"/>
            <a:ext cx="5187950" cy="434498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3661984"/>
      </p:ext>
    </p:extLst>
  </p:cSld>
  <p:clrMapOvr>
    <a:masterClrMapping/>
  </p:clrMapOvr>
  <p:hf hdr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74712" y="346075"/>
            <a:ext cx="10580687" cy="68421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/>
          </p:nvPr>
        </p:nvSpPr>
        <p:spPr>
          <a:xfrm>
            <a:off x="874712" y="1484314"/>
            <a:ext cx="3399576" cy="434498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7" name="Textplatzhalter 7"/>
          <p:cNvSpPr>
            <a:spLocks noGrp="1"/>
          </p:cNvSpPr>
          <p:nvPr>
            <p:ph type="body" sz="quarter" idx="11"/>
          </p:nvPr>
        </p:nvSpPr>
        <p:spPr>
          <a:xfrm>
            <a:off x="8070849" y="1484315"/>
            <a:ext cx="3384550" cy="434498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9" name="Textplatzhalter 5"/>
          <p:cNvSpPr>
            <a:spLocks noGrp="1"/>
          </p:cNvSpPr>
          <p:nvPr>
            <p:ph type="body" sz="quarter" idx="12"/>
          </p:nvPr>
        </p:nvSpPr>
        <p:spPr>
          <a:xfrm>
            <a:off x="4457700" y="1484315"/>
            <a:ext cx="3416300" cy="434498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43359633"/>
      </p:ext>
    </p:extLst>
  </p:cSld>
  <p:clrMapOvr>
    <a:masterClrMapping/>
  </p:clrMapOvr>
  <p:hf hdr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74712" y="346076"/>
            <a:ext cx="10580687" cy="509588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59847689"/>
      </p:ext>
    </p:extLst>
  </p:cSld>
  <p:clrMapOvr>
    <a:masterClrMapping/>
  </p:clrMapOvr>
  <p:hf hdr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74712" y="346076"/>
            <a:ext cx="10580687" cy="509588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7" name="Bildplatzhalter 6"/>
          <p:cNvSpPr>
            <a:spLocks noGrp="1"/>
          </p:cNvSpPr>
          <p:nvPr>
            <p:ph type="pic" sz="quarter" idx="10"/>
          </p:nvPr>
        </p:nvSpPr>
        <p:spPr>
          <a:xfrm>
            <a:off x="0" y="1030288"/>
            <a:ext cx="12192000" cy="5099050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258956533"/>
      </p:ext>
    </p:extLst>
  </p:cSld>
  <p:clrMapOvr>
    <a:masterClrMapping/>
  </p:clrMapOvr>
  <p:hf hdr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ildplatzhalter 2"/>
          <p:cNvSpPr>
            <a:spLocks noGrp="1"/>
          </p:cNvSpPr>
          <p:nvPr>
            <p:ph type="pic" sz="quarter" idx="10"/>
          </p:nvPr>
        </p:nvSpPr>
        <p:spPr>
          <a:xfrm>
            <a:off x="0" y="6"/>
            <a:ext cx="12192000" cy="6129331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2679611084"/>
      </p:ext>
    </p:extLst>
  </p:cSld>
  <p:clrMapOvr>
    <a:masterClrMapping/>
  </p:clrMapOvr>
  <p:hf hdr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874712" y="346075"/>
            <a:ext cx="10580687" cy="684213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DE" dirty="0"/>
              <a:t>Das ist eine Überschrift</a:t>
            </a:r>
            <a:br>
              <a:rPr lang="de-DE" dirty="0"/>
            </a:br>
            <a:r>
              <a:rPr lang="de-DE" dirty="0"/>
              <a:t>in zwei Zeilen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74712" y="1481138"/>
            <a:ext cx="10580687" cy="436086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Erste Textebene (16pt)</a:t>
            </a:r>
          </a:p>
          <a:p>
            <a:pPr lvl="1"/>
            <a:r>
              <a:rPr lang="de-DE" dirty="0"/>
              <a:t>Zweite Textebene für Aufzählungen</a:t>
            </a:r>
          </a:p>
          <a:p>
            <a:pPr lvl="2"/>
            <a:r>
              <a:rPr lang="de-DE" dirty="0"/>
              <a:t>Dritte Textebene bei viel Text (14pt)</a:t>
            </a:r>
          </a:p>
          <a:p>
            <a:pPr lvl="3"/>
            <a:r>
              <a:rPr lang="de-DE" dirty="0"/>
              <a:t>Vierte Textebene für Aufzählungen bei viel Text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Zwischenseite</a:t>
            </a:r>
          </a:p>
          <a:p>
            <a:pPr lvl="6"/>
            <a:r>
              <a:rPr lang="de-DE" dirty="0"/>
              <a:t>Für den nächsten Präsentationsabschnitt</a:t>
            </a:r>
          </a:p>
        </p:txBody>
      </p:sp>
      <p:sp>
        <p:nvSpPr>
          <p:cNvPr id="4" name="Textfeld 3"/>
          <p:cNvSpPr txBox="1"/>
          <p:nvPr userDrawn="1"/>
        </p:nvSpPr>
        <p:spPr>
          <a:xfrm>
            <a:off x="2924889" y="6291818"/>
            <a:ext cx="5187950" cy="369332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26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800" kern="1200" dirty="0">
                <a:solidFill>
                  <a:schemeClr val="bg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Aufbau</a:t>
            </a:r>
            <a:r>
              <a:rPr lang="de-DE" sz="800" dirty="0"/>
              <a:t> </a:t>
            </a:r>
            <a:r>
              <a:rPr lang="de-DE" sz="800" kern="1200" dirty="0">
                <a:solidFill>
                  <a:schemeClr val="bg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einer</a:t>
            </a:r>
            <a:r>
              <a:rPr lang="de-DE" sz="800" dirty="0"/>
              <a:t> </a:t>
            </a:r>
            <a:r>
              <a:rPr lang="de-DE" sz="800" kern="1200" dirty="0">
                <a:solidFill>
                  <a:schemeClr val="bg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unabhängigen</a:t>
            </a:r>
            <a:r>
              <a:rPr lang="de-DE" sz="800" dirty="0"/>
              <a:t> </a:t>
            </a:r>
            <a:r>
              <a:rPr lang="de-DE" sz="800" kern="1200" dirty="0">
                <a:solidFill>
                  <a:schemeClr val="bg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natürlich-sprachlichen</a:t>
            </a:r>
            <a:r>
              <a:rPr lang="de-DE" sz="800" dirty="0"/>
              <a:t> </a:t>
            </a:r>
            <a:r>
              <a:rPr lang="de-DE" sz="800" kern="1200" dirty="0">
                <a:solidFill>
                  <a:schemeClr val="bg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Mensch-Roboter-Interaktion</a:t>
            </a:r>
          </a:p>
          <a:p>
            <a:pPr marL="0" marR="0" lvl="0" indent="0" algn="l" defTabSz="91426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800" dirty="0">
                <a:solidFill>
                  <a:schemeClr val="bg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Martin </a:t>
            </a:r>
            <a:r>
              <a:rPr lang="de-DE" sz="800" dirty="0" err="1">
                <a:solidFill>
                  <a:schemeClr val="bg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Eisoldt</a:t>
            </a:r>
            <a:endParaRPr lang="de-DE" sz="800" baseline="0" dirty="0">
              <a:solidFill>
                <a:schemeClr val="bg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l"/>
            <a:r>
              <a:rPr lang="de-DE" sz="800" baseline="0" dirty="0">
                <a:solidFill>
                  <a:schemeClr val="bg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Verteidigung Masterarbeit // 05.12.2019</a:t>
            </a:r>
            <a:endParaRPr lang="de-DE" sz="800" dirty="0">
              <a:solidFill>
                <a:schemeClr val="bg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8" name="Gerade Verbindung 14"/>
          <p:cNvCxnSpPr/>
          <p:nvPr/>
        </p:nvCxnSpPr>
        <p:spPr>
          <a:xfrm>
            <a:off x="0" y="6123216"/>
            <a:ext cx="121920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feld 11"/>
          <p:cNvSpPr txBox="1"/>
          <p:nvPr/>
        </p:nvSpPr>
        <p:spPr>
          <a:xfrm>
            <a:off x="8966200" y="6306444"/>
            <a:ext cx="704850" cy="369332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r" defTabSz="91426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de-DE" sz="800" dirty="0">
                <a:solidFill>
                  <a:schemeClr val="bg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de-DE" sz="800" dirty="0">
                <a:solidFill>
                  <a:schemeClr val="bg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Folie</a:t>
            </a:r>
            <a:r>
              <a:rPr lang="de-DE" sz="800" baseline="0" dirty="0">
                <a:solidFill>
                  <a:schemeClr val="bg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fld id="{38F97D41-8991-4148-BA02-56FEE4AAF2CC}" type="slidenum">
              <a:rPr lang="de-DE" sz="800" baseline="0" smtClean="0">
                <a:solidFill>
                  <a:schemeClr val="bg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pPr marL="0" marR="0" lvl="0" indent="0" algn="r" defTabSz="91426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‹Nr.›</a:t>
            </a:fld>
            <a:endParaRPr lang="de-DE" sz="800" baseline="0" dirty="0">
              <a:solidFill>
                <a:schemeClr val="bg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r" defTabSz="91426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e-DE" sz="800" dirty="0">
              <a:solidFill>
                <a:schemeClr val="bg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9" name="Grafik 8"/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73955" y="6336430"/>
            <a:ext cx="770373" cy="350618"/>
          </a:xfrm>
          <a:prstGeom prst="rect">
            <a:avLst/>
          </a:prstGeom>
        </p:spPr>
      </p:pic>
      <p:pic>
        <p:nvPicPr>
          <p:cNvPr id="10" name="Grafik 9"/>
          <p:cNvPicPr>
            <a:picLocks noChangeAspect="1"/>
          </p:cNvPicPr>
          <p:nvPr userDrawn="1"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293" y="6336706"/>
            <a:ext cx="1115691" cy="324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98902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2" r:id="rId1"/>
    <p:sldLayoutId id="2147483893" r:id="rId2"/>
    <p:sldLayoutId id="2147483894" r:id="rId3"/>
    <p:sldLayoutId id="2147483895" r:id="rId4"/>
    <p:sldLayoutId id="2147483896" r:id="rId5"/>
    <p:sldLayoutId id="2147483897" r:id="rId6"/>
    <p:sldLayoutId id="2147483898" r:id="rId7"/>
    <p:sldLayoutId id="2147483899" r:id="rId8"/>
    <p:sldLayoutId id="2147483901" r:id="rId9"/>
    <p:sldLayoutId id="2147483902" r:id="rId10"/>
    <p:sldLayoutId id="2147483903" r:id="rId11"/>
  </p:sldLayoutIdLst>
  <p:hf hdr="0"/>
  <p:txStyles>
    <p:titleStyle>
      <a:lvl1pPr algn="l" defTabSz="914269" rtl="0" eaLnBrk="1" latinLnBrk="0" hangingPunct="1">
        <a:spcBef>
          <a:spcPct val="0"/>
        </a:spcBef>
        <a:buNone/>
        <a:defRPr sz="2400" b="1" kern="1200" baseline="0">
          <a:solidFill>
            <a:schemeClr val="tx2"/>
          </a:solidFill>
          <a:latin typeface="Open Sans" panose="020B0606030504020204" pitchFamily="34" charset="0"/>
          <a:ea typeface="+mj-ea"/>
          <a:cs typeface="+mj-cs"/>
        </a:defRPr>
      </a:lvl1pPr>
    </p:titleStyle>
    <p:bodyStyle>
      <a:lvl1pPr marL="0" indent="0" algn="l" defTabSz="914269" rtl="0" eaLnBrk="1" latinLnBrk="0" hangingPunct="1">
        <a:spcBef>
          <a:spcPts val="600"/>
        </a:spcBef>
        <a:buFont typeface="Arial" panose="020B0604020202020204" pitchFamily="34" charset="0"/>
        <a:buNone/>
        <a:defRPr sz="1600" kern="1200">
          <a:solidFill>
            <a:schemeClr val="tx2"/>
          </a:solidFill>
          <a:latin typeface="Open Sans" panose="020B0606030504020204" pitchFamily="34" charset="0"/>
          <a:ea typeface="+mn-ea"/>
          <a:cs typeface="+mn-cs"/>
        </a:defRPr>
      </a:lvl1pPr>
      <a:lvl2pPr marL="395942" indent="-323953" algn="l" defTabSz="914269" rtl="0" eaLnBrk="1" latinLnBrk="0" hangingPunct="1">
        <a:spcBef>
          <a:spcPts val="300"/>
        </a:spcBef>
        <a:buFont typeface="Open Sans" panose="020B0606030504020204" pitchFamily="34" charset="0"/>
        <a:buChar char="—"/>
        <a:defRPr sz="1600" kern="1200">
          <a:solidFill>
            <a:schemeClr val="tx2"/>
          </a:solidFill>
          <a:latin typeface="Open Sans" panose="020B0606030504020204" pitchFamily="34" charset="0"/>
          <a:ea typeface="+mn-ea"/>
          <a:cs typeface="+mn-cs"/>
        </a:defRPr>
      </a:lvl2pPr>
      <a:lvl3pPr marL="0" indent="0" algn="l" defTabSz="914269" rtl="0" eaLnBrk="1" latinLnBrk="0" hangingPunct="1"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2"/>
          </a:solidFill>
          <a:latin typeface="Open Sans" panose="020B0606030504020204" pitchFamily="34" charset="0"/>
          <a:ea typeface="+mn-ea"/>
          <a:cs typeface="+mn-cs"/>
        </a:defRPr>
      </a:lvl3pPr>
      <a:lvl4pPr marL="395942" indent="-215969" algn="l" defTabSz="914269" rtl="0" eaLnBrk="1" latinLnBrk="0" hangingPunct="1">
        <a:spcBef>
          <a:spcPts val="300"/>
        </a:spcBef>
        <a:buFont typeface="Symbol" panose="05050102010706020507" pitchFamily="18" charset="2"/>
        <a:buChar char="-"/>
        <a:defRPr sz="1400" kern="1200">
          <a:solidFill>
            <a:schemeClr val="tx2"/>
          </a:solidFill>
          <a:latin typeface="Open Sans" panose="020B0606030504020204" pitchFamily="34" charset="0"/>
          <a:ea typeface="+mn-ea"/>
          <a:cs typeface="+mn-cs"/>
        </a:defRPr>
      </a:lvl4pPr>
      <a:lvl5pPr marL="575916" indent="-179362" algn="l" defTabSz="914269" rtl="0" eaLnBrk="1" latinLnBrk="0" hangingPunct="1">
        <a:spcBef>
          <a:spcPts val="300"/>
        </a:spcBef>
        <a:buFont typeface="Symbol" panose="05050102010706020507" pitchFamily="18" charset="2"/>
        <a:buChar char="-"/>
        <a:defRPr sz="1400" kern="1200" baseline="0">
          <a:solidFill>
            <a:schemeClr val="tx2"/>
          </a:solidFill>
          <a:latin typeface="Open Sans" panose="020B0606030504020204" pitchFamily="34" charset="0"/>
          <a:ea typeface="+mn-ea"/>
          <a:cs typeface="+mn-cs"/>
        </a:defRPr>
      </a:lvl5pPr>
      <a:lvl6pPr marL="358723" indent="0" algn="l" defTabSz="914269" rtl="0" eaLnBrk="1" latinLnBrk="0" hangingPunct="1">
        <a:spcBef>
          <a:spcPts val="0"/>
        </a:spcBef>
        <a:buFont typeface="Arial" panose="020B0604020202020204" pitchFamily="34" charset="0"/>
        <a:buNone/>
        <a:defRPr sz="3200" b="1" kern="1200">
          <a:solidFill>
            <a:schemeClr val="bg1"/>
          </a:solidFill>
          <a:latin typeface="+mn-lt"/>
          <a:ea typeface="+mn-ea"/>
          <a:cs typeface="+mn-cs"/>
        </a:defRPr>
      </a:lvl6pPr>
      <a:lvl7pPr marL="358723" indent="0" algn="l" defTabSz="914269" rtl="0" eaLnBrk="1" latinLnBrk="0" hangingPunct="1">
        <a:spcBef>
          <a:spcPts val="0"/>
        </a:spcBef>
        <a:buFont typeface="Arial" panose="020B0604020202020204" pitchFamily="34" charset="0"/>
        <a:buNone/>
        <a:defRPr sz="3200" kern="1200">
          <a:solidFill>
            <a:schemeClr val="bg1"/>
          </a:solidFill>
          <a:latin typeface="+mn-lt"/>
          <a:ea typeface="+mn-ea"/>
          <a:cs typeface="+mn-cs"/>
        </a:defRPr>
      </a:lvl7pPr>
      <a:lvl8pPr marL="3428502" indent="-228566" algn="l" defTabSz="914269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635" indent="-228566" algn="l" defTabSz="914269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35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69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402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534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670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803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936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070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6" pos="992">
          <p15:clr>
            <a:srgbClr val="F26B43"/>
          </p15:clr>
        </p15:guide>
        <p15:guide id="7" pos="1120">
          <p15:clr>
            <a:srgbClr val="F26B43"/>
          </p15:clr>
        </p15:guide>
        <p15:guide id="8" pos="1676">
          <p15:clr>
            <a:srgbClr val="F26B43"/>
          </p15:clr>
        </p15:guide>
        <p15:guide id="9" pos="1556">
          <p15:clr>
            <a:srgbClr val="F26B43"/>
          </p15:clr>
        </p15:guide>
        <p15:guide id="10" pos="2252">
          <p15:clr>
            <a:srgbClr val="F26B43"/>
          </p15:clr>
        </p15:guide>
        <p15:guide id="11" pos="2128">
          <p15:clr>
            <a:srgbClr val="F26B43"/>
          </p15:clr>
        </p15:guide>
        <p15:guide id="16" pos="3824">
          <p15:clr>
            <a:srgbClr val="F26B43"/>
          </p15:clr>
        </p15:guide>
        <p15:guide id="17" pos="3948">
          <p15:clr>
            <a:srgbClr val="F26B43"/>
          </p15:clr>
        </p15:guide>
        <p15:guide id="20" pos="4384">
          <p15:clr>
            <a:srgbClr val="F26B43"/>
          </p15:clr>
        </p15:guide>
        <p15:guide id="21" pos="4508">
          <p15:clr>
            <a:srgbClr val="F26B43"/>
          </p15:clr>
        </p15:guide>
        <p15:guide id="22" pos="6780">
          <p15:clr>
            <a:srgbClr val="F26B43"/>
          </p15:clr>
        </p15:guide>
        <p15:guide id="23" pos="6656">
          <p15:clr>
            <a:srgbClr val="F26B43"/>
          </p15:clr>
        </p15:guide>
        <p15:guide id="24" pos="4960">
          <p15:clr>
            <a:srgbClr val="F26B43"/>
          </p15:clr>
        </p15:guide>
        <p15:guide id="25" pos="5084">
          <p15:clr>
            <a:srgbClr val="F26B43"/>
          </p15:clr>
        </p15:guide>
        <p15:guide id="30" orient="horz" pos="538">
          <p15:clr>
            <a:srgbClr val="F26B43"/>
          </p15:clr>
        </p15:guide>
        <p15:guide id="31" pos="551">
          <p15:clr>
            <a:srgbClr val="F26B43"/>
          </p15:clr>
        </p15:guide>
        <p15:guide id="39" pos="6092">
          <p15:clr>
            <a:srgbClr val="F26B43"/>
          </p15:clr>
        </p15:guide>
        <p15:guide id="40" pos="6216">
          <p15:clr>
            <a:srgbClr val="F26B43"/>
          </p15:clr>
        </p15:guide>
        <p15:guide id="41" pos="2692">
          <p15:clr>
            <a:srgbClr val="F26B43"/>
          </p15:clr>
        </p15:guide>
        <p15:guide id="42" pos="2808">
          <p15:clr>
            <a:srgbClr val="F26B43"/>
          </p15:clr>
        </p15:guide>
        <p15:guide id="43" pos="3260">
          <p15:clr>
            <a:srgbClr val="F26B43"/>
          </p15:clr>
        </p15:guide>
        <p15:guide id="44" pos="3380">
          <p15:clr>
            <a:srgbClr val="F26B43"/>
          </p15:clr>
        </p15:guide>
        <p15:guide id="50" pos="5520">
          <p15:clr>
            <a:srgbClr val="F26B43"/>
          </p15:clr>
        </p15:guide>
        <p15:guide id="52" orient="horz" pos="933">
          <p15:clr>
            <a:srgbClr val="F26B43"/>
          </p15:clr>
        </p15:guide>
        <p15:guide id="53" orient="horz" pos="759">
          <p15:clr>
            <a:srgbClr val="F26B43"/>
          </p15:clr>
        </p15:guide>
        <p15:guide id="58" orient="horz" pos="218">
          <p15:clr>
            <a:srgbClr val="F26B43"/>
          </p15:clr>
        </p15:guide>
        <p15:guide id="59" orient="horz" pos="3680">
          <p15:clr>
            <a:srgbClr val="F26B43"/>
          </p15:clr>
        </p15:guide>
        <p15:guide id="60" orient="horz" pos="3861">
          <p15:clr>
            <a:srgbClr val="F26B43"/>
          </p15:clr>
        </p15:guide>
        <p15:guide id="62" orient="horz" pos="2130">
          <p15:clr>
            <a:srgbClr val="F26B43"/>
          </p15:clr>
        </p15:guide>
        <p15:guide id="65" pos="5648">
          <p15:clr>
            <a:srgbClr val="F26B43"/>
          </p15:clr>
        </p15:guide>
        <p15:guide id="66" orient="horz" pos="649">
          <p15:clr>
            <a:srgbClr val="F26B43"/>
          </p15:clr>
        </p15:guide>
        <p15:guide id="67" pos="7216">
          <p15:clr>
            <a:srgbClr val="F26B43"/>
          </p15:clr>
        </p15:guide>
        <p15:guide id="69" orient="horz" pos="3988">
          <p15:clr>
            <a:srgbClr val="F26B43"/>
          </p15:clr>
        </p15:guide>
        <p15:guide id="70" orient="horz" pos="4196">
          <p15:clr>
            <a:srgbClr val="F26B43"/>
          </p15:clr>
        </p15:guide>
        <p15:guide id="71" pos="318">
          <p15:clr>
            <a:srgbClr val="F26B43"/>
          </p15:clr>
        </p15:guide>
        <p15:guide id="72" orient="horz" pos="411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://en.wikipedia.org/wiki/Steve_Matteson" TargetMode="Externa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2.xml"/><Relationship Id="rId4" Type="http://schemas.openxmlformats.org/officeDocument/2006/relationships/hyperlink" Target="https://tu-dresden.de/intern/services-und-hilfe/ressourcen/dateien/kommunizieren_und_publizieren/corporate-design/cd-elemente/schrift-tud-open-sans" TargetMode="Externa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tags" Target="../tags/tag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Untertitel 8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Verteidigung Masterarbeit </a:t>
            </a:r>
          </a:p>
          <a:p>
            <a:endParaRPr lang="de-DE" dirty="0"/>
          </a:p>
          <a:p>
            <a:r>
              <a:rPr lang="de-DE" dirty="0"/>
              <a:t>05.12.2019</a:t>
            </a:r>
          </a:p>
          <a:p>
            <a:endParaRPr lang="de-DE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e-DE" dirty="0"/>
              <a:t>Martin </a:t>
            </a:r>
            <a:r>
              <a:rPr lang="de-DE" dirty="0" err="1"/>
              <a:t>Eisoldt</a:t>
            </a:r>
            <a:endParaRPr lang="de-DE" dirty="0"/>
          </a:p>
          <a:p>
            <a:r>
              <a:rPr lang="de-DE" dirty="0"/>
              <a:t>Institut für Angewandte Informatik</a:t>
            </a:r>
          </a:p>
          <a:p>
            <a:r>
              <a:rPr lang="de-DE" dirty="0"/>
              <a:t>Professur für Mensch-Computer-Interaktion</a:t>
            </a:r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Aufbau einer unabhängigen natürlich-sprachlichen Mensch-Roboter-Interaktion</a:t>
            </a:r>
            <a:endParaRPr lang="de-DE" b="0" dirty="0"/>
          </a:p>
        </p:txBody>
      </p:sp>
    </p:spTree>
    <p:extLst>
      <p:ext uri="{BB962C8B-B14F-4D97-AF65-F5344CB8AC3E}">
        <p14:creationId xmlns:p14="http://schemas.microsoft.com/office/powerpoint/2010/main" val="8680227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0" dirty="0"/>
              <a:t>Gliederung</a:t>
            </a:r>
          </a:p>
        </p:txBody>
      </p:sp>
      <p:sp>
        <p:nvSpPr>
          <p:cNvPr id="2" name="Inhaltsplatzhalter 1"/>
          <p:cNvSpPr>
            <a:spLocks noGrp="1"/>
          </p:cNvSpPr>
          <p:nvPr>
            <p:ph sz="quarter" idx="10"/>
          </p:nvPr>
        </p:nvSpPr>
        <p:spPr>
          <a:xfrm>
            <a:off x="874711" y="1040525"/>
            <a:ext cx="10580688" cy="4344987"/>
          </a:xfrm>
        </p:spPr>
        <p:txBody>
          <a:bodyPr/>
          <a:lstStyle/>
          <a:p>
            <a:r>
              <a:rPr lang="de-DE" sz="2000" dirty="0"/>
              <a:t>1. Ziele</a:t>
            </a:r>
          </a:p>
          <a:p>
            <a:r>
              <a:rPr lang="de-DE" sz="2000" dirty="0"/>
              <a:t>2. Architektur von Sprachassistenzsystemen</a:t>
            </a:r>
          </a:p>
          <a:p>
            <a:r>
              <a:rPr lang="de-DE" sz="2000" dirty="0"/>
              <a:t>3. Betrachtungen zum Datenschutz</a:t>
            </a:r>
          </a:p>
          <a:p>
            <a:r>
              <a:rPr lang="de-DE" sz="2000" dirty="0"/>
              <a:t>4. Grundlagen des Einsatzes von Assistenzrobotern</a:t>
            </a:r>
          </a:p>
          <a:p>
            <a:r>
              <a:rPr lang="de-DE" sz="2000" dirty="0"/>
              <a:t>5. Funktionsweise von Mycroft AI</a:t>
            </a:r>
          </a:p>
          <a:p>
            <a:r>
              <a:rPr lang="de-DE" sz="2000" dirty="0"/>
              <a:t>6. Konzept für gemeinsamen Einsatz von Sprachassistenten und Assistenzrobotern</a:t>
            </a:r>
          </a:p>
          <a:p>
            <a:r>
              <a:rPr lang="de-DE" sz="2000" dirty="0"/>
              <a:t>7. Prototypische Umsetzung des Konzepts</a:t>
            </a:r>
          </a:p>
          <a:p>
            <a:r>
              <a:rPr lang="de-DE" sz="2000" dirty="0"/>
              <a:t>6. Evaluation des Konzepts</a:t>
            </a:r>
          </a:p>
          <a:p>
            <a:r>
              <a:rPr lang="de-DE" sz="2000" dirty="0"/>
              <a:t>7. Fazit</a:t>
            </a:r>
          </a:p>
          <a:p>
            <a:r>
              <a:rPr lang="de-DE" sz="2000" dirty="0"/>
              <a:t>8. Demonstration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968091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Weitere Hinweise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de-DE" dirty="0"/>
              <a:t>Einstellungen der Fußzeile wie Titel und Vortragender der Präsentation sind im Folienmaster vorzunehmen.</a:t>
            </a:r>
          </a:p>
        </p:txBody>
      </p:sp>
    </p:spTree>
    <p:extLst>
      <p:ext uri="{BB962C8B-B14F-4D97-AF65-F5344CB8AC3E}">
        <p14:creationId xmlns:p14="http://schemas.microsoft.com/office/powerpoint/2010/main" val="13213788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Hausschrift</a:t>
            </a:r>
            <a:br>
              <a:rPr lang="de-DE" dirty="0"/>
            </a:br>
            <a:r>
              <a:rPr lang="de-DE" b="0" dirty="0"/>
              <a:t>Open Sans</a:t>
            </a:r>
          </a:p>
        </p:txBody>
      </p:sp>
      <p:sp>
        <p:nvSpPr>
          <p:cNvPr id="2" name="Inhaltsplatzhalter 1"/>
          <p:cNvSpPr>
            <a:spLocks noGrp="1"/>
          </p:cNvSpPr>
          <p:nvPr>
            <p:ph type="body" sz="quarter" idx="14"/>
          </p:nvPr>
        </p:nvSpPr>
        <p:spPr>
          <a:xfrm>
            <a:off x="874712" y="1484314"/>
            <a:ext cx="5392737" cy="4357686"/>
          </a:xfrm>
        </p:spPr>
        <p:txBody>
          <a:bodyPr/>
          <a:lstStyle/>
          <a:p>
            <a:r>
              <a:rPr lang="de-DE" dirty="0"/>
              <a:t>Ab Februar 2018 wird die Schrift </a:t>
            </a:r>
            <a:r>
              <a:rPr lang="de-DE" b="1" dirty="0"/>
              <a:t>Open Sans</a:t>
            </a:r>
            <a:r>
              <a:rPr lang="de-DE" dirty="0"/>
              <a:t> als Hausschrift der TUD verwendet.</a:t>
            </a:r>
            <a:br>
              <a:rPr lang="de-DE" dirty="0"/>
            </a:br>
            <a:br>
              <a:rPr lang="de-DE" dirty="0"/>
            </a:br>
            <a:r>
              <a:rPr lang="de-DE" dirty="0"/>
              <a:t>Die Open Sans wurde von Schriftgestalter </a:t>
            </a:r>
            <a:r>
              <a:rPr lang="de-DE" dirty="0">
                <a:hlinkClick r:id="rId3"/>
              </a:rPr>
              <a:t>Steve </a:t>
            </a:r>
            <a:r>
              <a:rPr lang="de-DE" dirty="0" err="1">
                <a:hlinkClick r:id="rId3"/>
              </a:rPr>
              <a:t>Matteson</a:t>
            </a:r>
            <a:r>
              <a:rPr lang="de-DE" dirty="0"/>
              <a:t> als </a:t>
            </a:r>
            <a:r>
              <a:rPr lang="de-DE" b="1" dirty="0"/>
              <a:t>medienübergreifende  Schrift für Drucksachen, Webgestaltung und mobile</a:t>
            </a:r>
            <a:r>
              <a:rPr lang="de-DE" dirty="0"/>
              <a:t> </a:t>
            </a:r>
            <a:r>
              <a:rPr lang="de-DE" b="1" dirty="0"/>
              <a:t>Interfaces</a:t>
            </a:r>
            <a:r>
              <a:rPr lang="de-DE" dirty="0"/>
              <a:t> entwickelt und unter der Apache </a:t>
            </a:r>
            <a:r>
              <a:rPr lang="de-DE" dirty="0" err="1"/>
              <a:t>License</a:t>
            </a:r>
            <a:r>
              <a:rPr lang="de-DE" dirty="0"/>
              <a:t> Version 2.0 veröffentlicht.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Die Schrift steht in verschiedenen Schriftbibliotheken </a:t>
            </a:r>
            <a:br>
              <a:rPr lang="de-DE" dirty="0"/>
            </a:br>
            <a:r>
              <a:rPr lang="de-DE" b="1" dirty="0"/>
              <a:t>im Internet </a:t>
            </a:r>
            <a:r>
              <a:rPr lang="de-DE" dirty="0"/>
              <a:t>und im internen Bereich der TUD-Webseiten als </a:t>
            </a:r>
            <a:r>
              <a:rPr lang="de-DE" b="1" dirty="0"/>
              <a:t>freier </a:t>
            </a:r>
            <a:r>
              <a:rPr lang="de-DE" b="1" dirty="0">
                <a:hlinkClick r:id="rId4"/>
              </a:rPr>
              <a:t>Download</a:t>
            </a:r>
            <a:r>
              <a:rPr lang="de-DE" dirty="0"/>
              <a:t> zur Verfügung.</a:t>
            </a:r>
            <a:br>
              <a:rPr lang="de-DE" dirty="0"/>
            </a:br>
            <a:br>
              <a:rPr lang="de-DE" dirty="0"/>
            </a:br>
            <a:r>
              <a:rPr lang="de-DE" dirty="0"/>
              <a:t>Die Schrift Open Sans ist </a:t>
            </a:r>
            <a:r>
              <a:rPr lang="de-DE" b="1" dirty="0"/>
              <a:t>direkt in dieser Präsentationsvorlage eingebunden</a:t>
            </a:r>
            <a:r>
              <a:rPr lang="de-DE" dirty="0"/>
              <a:t>.</a:t>
            </a:r>
          </a:p>
          <a:p>
            <a:endParaRPr lang="de-DE" dirty="0"/>
          </a:p>
          <a:p>
            <a:endParaRPr lang="de-DE" dirty="0"/>
          </a:p>
          <a:p>
            <a:pPr lvl="2"/>
            <a:endParaRPr lang="de-DE" dirty="0"/>
          </a:p>
        </p:txBody>
      </p:sp>
      <p:sp>
        <p:nvSpPr>
          <p:cNvPr id="4" name="Textfeld 3"/>
          <p:cNvSpPr txBox="1"/>
          <p:nvPr/>
        </p:nvSpPr>
        <p:spPr>
          <a:xfrm>
            <a:off x="6267449" y="1484313"/>
            <a:ext cx="4298951" cy="39395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sz="1600" b="1" dirty="0">
                <a:solidFill>
                  <a:schemeClr val="accent1"/>
                </a:solidFill>
                <a:ea typeface="Open Sans Light" panose="020B0306030504020204" pitchFamily="34" charset="0"/>
                <a:cs typeface="Open Sans Light" panose="020B0306030504020204" pitchFamily="34" charset="0"/>
              </a:rPr>
              <a:t>Schriftschnitte</a:t>
            </a:r>
            <a:br>
              <a:rPr lang="de-DE" sz="1600" b="1" dirty="0">
                <a:solidFill>
                  <a:schemeClr val="accent1"/>
                </a:solidFill>
                <a:ea typeface="Open Sans Light" panose="020B0306030504020204" pitchFamily="34" charset="0"/>
                <a:cs typeface="Open Sans Light" panose="020B0306030504020204" pitchFamily="34" charset="0"/>
              </a:rPr>
            </a:br>
            <a:endParaRPr lang="de-DE" sz="1600" b="1" dirty="0">
              <a:solidFill>
                <a:schemeClr val="accent1"/>
              </a:solidFill>
              <a:ea typeface="Open Sans Light" panose="020B0306030504020204" pitchFamily="34" charset="0"/>
              <a:cs typeface="Open Sans Light" panose="020B0306030504020204" pitchFamily="34" charset="0"/>
            </a:endParaRPr>
          </a:p>
          <a:p>
            <a:pPr algn="r"/>
            <a:r>
              <a:rPr lang="de-DE" sz="1600" dirty="0">
                <a:solidFill>
                  <a:schemeClr val="accent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Open Sans Light</a:t>
            </a:r>
          </a:p>
          <a:p>
            <a:pPr algn="r"/>
            <a:r>
              <a:rPr lang="de-DE" sz="1600" dirty="0">
                <a:solidFill>
                  <a:schemeClr val="accent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Open Sans </a:t>
            </a:r>
            <a:r>
              <a:rPr lang="de-DE" sz="1600" i="1" dirty="0">
                <a:solidFill>
                  <a:schemeClr val="accent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Light Italic</a:t>
            </a:r>
          </a:p>
          <a:p>
            <a:pPr algn="r"/>
            <a:endParaRPr lang="de-DE" sz="1600" i="1" dirty="0">
              <a:solidFill>
                <a:schemeClr val="accent1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  <a:p>
            <a:pPr algn="r">
              <a:tabLst>
                <a:tab pos="361950" algn="l"/>
              </a:tabLst>
            </a:pPr>
            <a:r>
              <a:rPr lang="de-DE" sz="1600" dirty="0">
                <a:solidFill>
                  <a:schemeClr val="accent1"/>
                </a:solidFill>
              </a:rPr>
              <a:t>Open Sans Regular</a:t>
            </a:r>
          </a:p>
          <a:p>
            <a:pPr algn="r">
              <a:tabLst>
                <a:tab pos="361950" algn="l"/>
              </a:tabLst>
            </a:pPr>
            <a:r>
              <a:rPr lang="de-DE" sz="1600" dirty="0">
                <a:solidFill>
                  <a:schemeClr val="accent1"/>
                </a:solidFill>
              </a:rPr>
              <a:t>Open Sans </a:t>
            </a:r>
            <a:r>
              <a:rPr lang="de-DE" sz="1600" i="1" dirty="0">
                <a:solidFill>
                  <a:schemeClr val="accent1"/>
                </a:solidFill>
              </a:rPr>
              <a:t>Regular Italic</a:t>
            </a:r>
          </a:p>
          <a:p>
            <a:pPr algn="r">
              <a:tabLst>
                <a:tab pos="361950" algn="l"/>
              </a:tabLst>
            </a:pPr>
            <a:endParaRPr lang="de-DE" sz="1600" dirty="0">
              <a:solidFill>
                <a:schemeClr val="accent1"/>
              </a:solidFill>
              <a:latin typeface="Open Sans Semibold" panose="020B0706030804020204" pitchFamily="34" charset="0"/>
              <a:ea typeface="Open Sans Semibold" panose="020B0706030804020204" pitchFamily="34" charset="0"/>
              <a:cs typeface="Open Sans Semibold" panose="020B0706030804020204" pitchFamily="34" charset="0"/>
            </a:endParaRPr>
          </a:p>
          <a:p>
            <a:pPr algn="r">
              <a:tabLst>
                <a:tab pos="361950" algn="l"/>
              </a:tabLst>
            </a:pPr>
            <a:r>
              <a:rPr lang="de-DE" sz="1600" dirty="0">
                <a:solidFill>
                  <a:schemeClr val="accent1"/>
                </a:solidFill>
                <a:latin typeface="Open Sans Semibold" panose="020B0706030804020204" pitchFamily="34" charset="0"/>
                <a:ea typeface="Open Sans Semibold" panose="020B0706030804020204" pitchFamily="34" charset="0"/>
                <a:cs typeface="Open Sans Semibold" panose="020B0706030804020204" pitchFamily="34" charset="0"/>
              </a:rPr>
              <a:t>Open Sans Semi-</a:t>
            </a:r>
            <a:r>
              <a:rPr lang="de-DE" sz="1600" dirty="0" err="1">
                <a:solidFill>
                  <a:schemeClr val="accent1"/>
                </a:solidFill>
                <a:latin typeface="Open Sans Semibold" panose="020B0706030804020204" pitchFamily="34" charset="0"/>
                <a:ea typeface="Open Sans Semibold" panose="020B0706030804020204" pitchFamily="34" charset="0"/>
                <a:cs typeface="Open Sans Semibold" panose="020B0706030804020204" pitchFamily="34" charset="0"/>
              </a:rPr>
              <a:t>Bold</a:t>
            </a:r>
            <a:endParaRPr lang="de-DE" sz="1600" dirty="0">
              <a:solidFill>
                <a:schemeClr val="accent1"/>
              </a:solidFill>
              <a:latin typeface="Open Sans Semibold" panose="020B0706030804020204" pitchFamily="34" charset="0"/>
              <a:ea typeface="Open Sans Semibold" panose="020B0706030804020204" pitchFamily="34" charset="0"/>
              <a:cs typeface="Open Sans Semibold" panose="020B0706030804020204" pitchFamily="34" charset="0"/>
            </a:endParaRPr>
          </a:p>
          <a:p>
            <a:pPr algn="r">
              <a:tabLst>
                <a:tab pos="361950" algn="l"/>
              </a:tabLst>
            </a:pPr>
            <a:r>
              <a:rPr lang="de-DE" sz="1600" dirty="0">
                <a:solidFill>
                  <a:schemeClr val="accent1"/>
                </a:solidFill>
                <a:latin typeface="Open Sans Semibold" panose="020B0706030804020204" pitchFamily="34" charset="0"/>
                <a:ea typeface="Open Sans Semibold" panose="020B0706030804020204" pitchFamily="34" charset="0"/>
                <a:cs typeface="Open Sans Semibold" panose="020B0706030804020204" pitchFamily="34" charset="0"/>
              </a:rPr>
              <a:t>Open Sans </a:t>
            </a:r>
            <a:r>
              <a:rPr lang="de-DE" sz="1600" i="1" dirty="0">
                <a:solidFill>
                  <a:schemeClr val="accent1"/>
                </a:solidFill>
                <a:latin typeface="Open Sans Semibold" panose="020B0706030804020204" pitchFamily="34" charset="0"/>
                <a:ea typeface="Open Sans Semibold" panose="020B0706030804020204" pitchFamily="34" charset="0"/>
                <a:cs typeface="Open Sans Semibold" panose="020B0706030804020204" pitchFamily="34" charset="0"/>
              </a:rPr>
              <a:t>Semi-</a:t>
            </a:r>
            <a:r>
              <a:rPr lang="de-DE" sz="1600" i="1" dirty="0" err="1">
                <a:solidFill>
                  <a:schemeClr val="accent1"/>
                </a:solidFill>
                <a:latin typeface="Open Sans Semibold" panose="020B0706030804020204" pitchFamily="34" charset="0"/>
                <a:ea typeface="Open Sans Semibold" panose="020B0706030804020204" pitchFamily="34" charset="0"/>
                <a:cs typeface="Open Sans Semibold" panose="020B0706030804020204" pitchFamily="34" charset="0"/>
              </a:rPr>
              <a:t>Bold</a:t>
            </a:r>
            <a:r>
              <a:rPr lang="de-DE" sz="1600" i="1" dirty="0">
                <a:solidFill>
                  <a:schemeClr val="accent1"/>
                </a:solidFill>
                <a:latin typeface="Open Sans Semibold" panose="020B0706030804020204" pitchFamily="34" charset="0"/>
                <a:ea typeface="Open Sans Semibold" panose="020B0706030804020204" pitchFamily="34" charset="0"/>
                <a:cs typeface="Open Sans Semibold" panose="020B0706030804020204" pitchFamily="34" charset="0"/>
              </a:rPr>
              <a:t> Italic</a:t>
            </a:r>
          </a:p>
          <a:p>
            <a:pPr algn="r">
              <a:tabLst>
                <a:tab pos="361950" algn="l"/>
              </a:tabLst>
            </a:pPr>
            <a:endParaRPr lang="de-DE" sz="1600" b="1" dirty="0">
              <a:solidFill>
                <a:schemeClr val="accent1"/>
              </a:solidFill>
            </a:endParaRPr>
          </a:p>
          <a:p>
            <a:pPr algn="r">
              <a:tabLst>
                <a:tab pos="361950" algn="l"/>
              </a:tabLst>
            </a:pPr>
            <a:r>
              <a:rPr lang="de-DE" sz="1600" b="1" dirty="0">
                <a:solidFill>
                  <a:schemeClr val="accent1"/>
                </a:solidFill>
              </a:rPr>
              <a:t>Open Sans </a:t>
            </a:r>
            <a:r>
              <a:rPr lang="de-DE" sz="1600" b="1" dirty="0" err="1">
                <a:solidFill>
                  <a:schemeClr val="accent1"/>
                </a:solidFill>
              </a:rPr>
              <a:t>Bold</a:t>
            </a:r>
            <a:endParaRPr lang="de-DE" sz="1600" b="1" dirty="0">
              <a:solidFill>
                <a:schemeClr val="accent1"/>
              </a:solidFill>
            </a:endParaRPr>
          </a:p>
          <a:p>
            <a:pPr algn="r">
              <a:tabLst>
                <a:tab pos="361950" algn="l"/>
              </a:tabLst>
            </a:pPr>
            <a:r>
              <a:rPr lang="de-DE" sz="1600" b="1" dirty="0">
                <a:solidFill>
                  <a:schemeClr val="accent1"/>
                </a:solidFill>
              </a:rPr>
              <a:t>Open Sans </a:t>
            </a:r>
            <a:r>
              <a:rPr lang="de-DE" sz="1600" b="1" i="1" dirty="0" err="1">
                <a:solidFill>
                  <a:schemeClr val="accent1"/>
                </a:solidFill>
              </a:rPr>
              <a:t>Bold</a:t>
            </a:r>
            <a:r>
              <a:rPr lang="de-DE" sz="1600" b="1" i="1" dirty="0">
                <a:solidFill>
                  <a:schemeClr val="accent1"/>
                </a:solidFill>
              </a:rPr>
              <a:t> Italic</a:t>
            </a:r>
          </a:p>
          <a:p>
            <a:pPr algn="r">
              <a:tabLst>
                <a:tab pos="361950" algn="l"/>
              </a:tabLst>
            </a:pPr>
            <a:endParaRPr lang="de-DE" sz="1600" dirty="0">
              <a:solidFill>
                <a:schemeClr val="accent1"/>
              </a:solidFill>
              <a:latin typeface="Open Sans Extrabold" panose="020B0906030804020204" pitchFamily="34" charset="0"/>
              <a:ea typeface="Open Sans Extrabold" panose="020B0906030804020204" pitchFamily="34" charset="0"/>
              <a:cs typeface="Open Sans Extrabold" panose="020B0906030804020204" pitchFamily="34" charset="0"/>
            </a:endParaRPr>
          </a:p>
          <a:p>
            <a:pPr algn="r">
              <a:tabLst>
                <a:tab pos="361950" algn="l"/>
              </a:tabLst>
            </a:pPr>
            <a:r>
              <a:rPr lang="de-DE" sz="1600" dirty="0">
                <a:solidFill>
                  <a:schemeClr val="accent1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rPr>
              <a:t>Open Sans Extra-</a:t>
            </a:r>
            <a:r>
              <a:rPr lang="de-DE" sz="1600" dirty="0" err="1">
                <a:solidFill>
                  <a:schemeClr val="accent1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rPr>
              <a:t>Bold</a:t>
            </a:r>
            <a:endParaRPr lang="de-DE" sz="1600" dirty="0">
              <a:solidFill>
                <a:schemeClr val="accent1"/>
              </a:solidFill>
              <a:latin typeface="Open Sans Extrabold" panose="020B0906030804020204" pitchFamily="34" charset="0"/>
              <a:ea typeface="Open Sans Extrabold" panose="020B0906030804020204" pitchFamily="34" charset="0"/>
              <a:cs typeface="Open Sans Extrabold" panose="020B0906030804020204" pitchFamily="34" charset="0"/>
            </a:endParaRPr>
          </a:p>
          <a:p>
            <a:pPr algn="r">
              <a:tabLst>
                <a:tab pos="361950" algn="l"/>
              </a:tabLst>
            </a:pPr>
            <a:r>
              <a:rPr lang="de-DE" sz="1600" dirty="0">
                <a:solidFill>
                  <a:schemeClr val="accent1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rPr>
              <a:t>Open Sans </a:t>
            </a:r>
            <a:r>
              <a:rPr lang="de-DE" sz="1600" i="1" dirty="0">
                <a:solidFill>
                  <a:schemeClr val="accent1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rPr>
              <a:t>Extra-</a:t>
            </a:r>
            <a:r>
              <a:rPr lang="de-DE" sz="1600" i="1" dirty="0" err="1">
                <a:solidFill>
                  <a:schemeClr val="accent1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rPr>
              <a:t>Bold</a:t>
            </a:r>
            <a:r>
              <a:rPr lang="de-DE" sz="1600" i="1" dirty="0">
                <a:solidFill>
                  <a:schemeClr val="accent1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rPr>
              <a:t> Italic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9384978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uppieren 7"/>
          <p:cNvGrpSpPr/>
          <p:nvPr/>
        </p:nvGrpSpPr>
        <p:grpSpPr>
          <a:xfrm>
            <a:off x="7156450" y="1854676"/>
            <a:ext cx="4298950" cy="3455210"/>
            <a:chOff x="7431548" y="1854676"/>
            <a:chExt cx="4023852" cy="3455210"/>
          </a:xfrm>
        </p:grpSpPr>
        <p:sp>
          <p:nvSpPr>
            <p:cNvPr id="18" name="Rechteck 17"/>
            <p:cNvSpPr/>
            <p:nvPr/>
          </p:nvSpPr>
          <p:spPr>
            <a:xfrm>
              <a:off x="7431548" y="5032074"/>
              <a:ext cx="4023852" cy="277812"/>
            </a:xfrm>
            <a:prstGeom prst="rect">
              <a:avLst/>
            </a:prstGeom>
            <a:solidFill>
              <a:srgbClr val="EE7F00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1" name="Rechteck 10"/>
            <p:cNvSpPr/>
            <p:nvPr/>
          </p:nvSpPr>
          <p:spPr>
            <a:xfrm>
              <a:off x="7431548" y="2251851"/>
              <a:ext cx="4023852" cy="277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" name="Rechteck 11"/>
            <p:cNvSpPr/>
            <p:nvPr/>
          </p:nvSpPr>
          <p:spPr>
            <a:xfrm>
              <a:off x="7431548" y="2649026"/>
              <a:ext cx="4023852" cy="277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" name="Rechteck 12"/>
            <p:cNvSpPr/>
            <p:nvPr/>
          </p:nvSpPr>
          <p:spPr>
            <a:xfrm>
              <a:off x="7431548" y="3046201"/>
              <a:ext cx="4023852" cy="277812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" name="Rechteck 13"/>
            <p:cNvSpPr/>
            <p:nvPr/>
          </p:nvSpPr>
          <p:spPr>
            <a:xfrm>
              <a:off x="7431548" y="3443376"/>
              <a:ext cx="4023852" cy="277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5" name="Rechteck 14"/>
            <p:cNvSpPr/>
            <p:nvPr/>
          </p:nvSpPr>
          <p:spPr>
            <a:xfrm>
              <a:off x="7431548" y="3840551"/>
              <a:ext cx="4023852" cy="277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Rechteck 15"/>
            <p:cNvSpPr/>
            <p:nvPr/>
          </p:nvSpPr>
          <p:spPr>
            <a:xfrm>
              <a:off x="7431548" y="4237726"/>
              <a:ext cx="4023852" cy="277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7" name="Rechteck 16"/>
            <p:cNvSpPr/>
            <p:nvPr/>
          </p:nvSpPr>
          <p:spPr>
            <a:xfrm>
              <a:off x="7431548" y="4634901"/>
              <a:ext cx="4023852" cy="277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" name="Rechteck 9"/>
            <p:cNvSpPr/>
            <p:nvPr/>
          </p:nvSpPr>
          <p:spPr>
            <a:xfrm>
              <a:off x="7431548" y="1854676"/>
              <a:ext cx="4023852" cy="277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28" name="Gruppieren 27"/>
          <p:cNvGrpSpPr/>
          <p:nvPr/>
        </p:nvGrpSpPr>
        <p:grpSpPr>
          <a:xfrm>
            <a:off x="6255800" y="1847813"/>
            <a:ext cx="278539" cy="3455210"/>
            <a:chOff x="6659299" y="1847813"/>
            <a:chExt cx="278539" cy="3455210"/>
          </a:xfrm>
        </p:grpSpPr>
        <p:sp>
          <p:nvSpPr>
            <p:cNvPr id="26" name="Rechteck 25"/>
            <p:cNvSpPr/>
            <p:nvPr/>
          </p:nvSpPr>
          <p:spPr>
            <a:xfrm>
              <a:off x="6659299" y="5025211"/>
              <a:ext cx="278539" cy="277812"/>
            </a:xfrm>
            <a:prstGeom prst="rect">
              <a:avLst/>
            </a:prstGeom>
            <a:solidFill>
              <a:srgbClr val="EE7F00">
                <a:alpha val="60000"/>
              </a:srgb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9" name="Rechteck 18"/>
            <p:cNvSpPr/>
            <p:nvPr/>
          </p:nvSpPr>
          <p:spPr>
            <a:xfrm>
              <a:off x="6659299" y="2244988"/>
              <a:ext cx="278539" cy="277812"/>
            </a:xfrm>
            <a:prstGeom prst="rect">
              <a:avLst/>
            </a:prstGeom>
            <a:solidFill>
              <a:schemeClr val="accent2">
                <a:alpha val="60000"/>
              </a:schemeClr>
            </a:solidFill>
            <a:ln>
              <a:noFill/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" name="Rechteck 19"/>
            <p:cNvSpPr/>
            <p:nvPr/>
          </p:nvSpPr>
          <p:spPr>
            <a:xfrm>
              <a:off x="6659299" y="2642163"/>
              <a:ext cx="278539" cy="277812"/>
            </a:xfrm>
            <a:prstGeom prst="rect">
              <a:avLst/>
            </a:prstGeom>
            <a:solidFill>
              <a:schemeClr val="accent1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1" name="Rechteck 20"/>
            <p:cNvSpPr/>
            <p:nvPr/>
          </p:nvSpPr>
          <p:spPr>
            <a:xfrm>
              <a:off x="6659299" y="3039338"/>
              <a:ext cx="278539" cy="277812"/>
            </a:xfrm>
            <a:prstGeom prst="rect">
              <a:avLst/>
            </a:prstGeom>
            <a:solidFill>
              <a:schemeClr val="bg2">
                <a:alpha val="60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2" name="Rechteck 21"/>
            <p:cNvSpPr/>
            <p:nvPr/>
          </p:nvSpPr>
          <p:spPr>
            <a:xfrm>
              <a:off x="6659299" y="3436513"/>
              <a:ext cx="278539" cy="277812"/>
            </a:xfrm>
            <a:prstGeom prst="rect">
              <a:avLst/>
            </a:prstGeom>
            <a:solidFill>
              <a:schemeClr val="accent5">
                <a:alpha val="60000"/>
              </a:schemeClr>
            </a:solidFill>
            <a:ln>
              <a:noFill/>
            </a:ln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3" name="Rechteck 22"/>
            <p:cNvSpPr/>
            <p:nvPr/>
          </p:nvSpPr>
          <p:spPr>
            <a:xfrm>
              <a:off x="6659299" y="3833688"/>
              <a:ext cx="278539" cy="277812"/>
            </a:xfrm>
            <a:prstGeom prst="rect">
              <a:avLst/>
            </a:prstGeom>
            <a:solidFill>
              <a:schemeClr val="accent6">
                <a:alpha val="60000"/>
              </a:schemeClr>
            </a:solidFill>
            <a:ln>
              <a:noFill/>
            </a:ln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4" name="Rechteck 23"/>
            <p:cNvSpPr/>
            <p:nvPr/>
          </p:nvSpPr>
          <p:spPr>
            <a:xfrm>
              <a:off x="6659299" y="4230863"/>
              <a:ext cx="278539" cy="277812"/>
            </a:xfrm>
            <a:prstGeom prst="rect">
              <a:avLst/>
            </a:prstGeom>
            <a:solidFill>
              <a:schemeClr val="accent3">
                <a:alpha val="60000"/>
              </a:schemeClr>
            </a:solidFill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5" name="Rechteck 24"/>
            <p:cNvSpPr/>
            <p:nvPr/>
          </p:nvSpPr>
          <p:spPr>
            <a:xfrm>
              <a:off x="6659299" y="4628038"/>
              <a:ext cx="278539" cy="277812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>
              <a:noFill/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7" name="Rechteck 26"/>
            <p:cNvSpPr/>
            <p:nvPr/>
          </p:nvSpPr>
          <p:spPr>
            <a:xfrm>
              <a:off x="6659299" y="1847813"/>
              <a:ext cx="278539" cy="277812"/>
            </a:xfrm>
            <a:prstGeom prst="rect">
              <a:avLst/>
            </a:prstGeom>
            <a:solidFill>
              <a:schemeClr val="tx1">
                <a:alpha val="60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29" name="Gruppieren 28"/>
          <p:cNvGrpSpPr/>
          <p:nvPr/>
        </p:nvGrpSpPr>
        <p:grpSpPr>
          <a:xfrm>
            <a:off x="6694545" y="1847813"/>
            <a:ext cx="278539" cy="3455210"/>
            <a:chOff x="7045423" y="1847813"/>
            <a:chExt cx="278539" cy="3455210"/>
          </a:xfrm>
        </p:grpSpPr>
        <p:sp>
          <p:nvSpPr>
            <p:cNvPr id="46" name="Rechteck 45"/>
            <p:cNvSpPr/>
            <p:nvPr/>
          </p:nvSpPr>
          <p:spPr>
            <a:xfrm>
              <a:off x="7045423" y="5025211"/>
              <a:ext cx="278539" cy="277812"/>
            </a:xfrm>
            <a:prstGeom prst="rect">
              <a:avLst/>
            </a:prstGeom>
            <a:solidFill>
              <a:srgbClr val="EE7F00">
                <a:alpha val="80000"/>
              </a:srgb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9" name="Rechteck 38"/>
            <p:cNvSpPr/>
            <p:nvPr/>
          </p:nvSpPr>
          <p:spPr>
            <a:xfrm>
              <a:off x="7045423" y="2244988"/>
              <a:ext cx="278539" cy="277812"/>
            </a:xfrm>
            <a:prstGeom prst="rect">
              <a:avLst/>
            </a:prstGeom>
            <a:solidFill>
              <a:schemeClr val="accent2">
                <a:alpha val="80000"/>
              </a:schemeClr>
            </a:solidFill>
            <a:ln>
              <a:noFill/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0" name="Rechteck 39"/>
            <p:cNvSpPr/>
            <p:nvPr/>
          </p:nvSpPr>
          <p:spPr>
            <a:xfrm>
              <a:off x="7045423" y="2642163"/>
              <a:ext cx="278539" cy="277812"/>
            </a:xfrm>
            <a:prstGeom prst="rect">
              <a:avLst/>
            </a:prstGeom>
            <a:solidFill>
              <a:schemeClr val="accent1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1" name="Rechteck 40"/>
            <p:cNvSpPr/>
            <p:nvPr/>
          </p:nvSpPr>
          <p:spPr>
            <a:xfrm>
              <a:off x="7045423" y="3039338"/>
              <a:ext cx="278539" cy="277812"/>
            </a:xfrm>
            <a:prstGeom prst="rect">
              <a:avLst/>
            </a:prstGeom>
            <a:solidFill>
              <a:schemeClr val="bg2">
                <a:alpha val="80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2" name="Rechteck 41"/>
            <p:cNvSpPr/>
            <p:nvPr/>
          </p:nvSpPr>
          <p:spPr>
            <a:xfrm>
              <a:off x="7045423" y="3436513"/>
              <a:ext cx="278539" cy="277812"/>
            </a:xfrm>
            <a:prstGeom prst="rect">
              <a:avLst/>
            </a:prstGeom>
            <a:solidFill>
              <a:schemeClr val="accent5">
                <a:alpha val="80000"/>
              </a:schemeClr>
            </a:solidFill>
            <a:ln>
              <a:noFill/>
            </a:ln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3" name="Rechteck 42"/>
            <p:cNvSpPr/>
            <p:nvPr/>
          </p:nvSpPr>
          <p:spPr>
            <a:xfrm>
              <a:off x="7045423" y="3833688"/>
              <a:ext cx="278539" cy="277812"/>
            </a:xfrm>
            <a:prstGeom prst="rect">
              <a:avLst/>
            </a:prstGeom>
            <a:solidFill>
              <a:schemeClr val="accent6">
                <a:alpha val="80000"/>
              </a:schemeClr>
            </a:solidFill>
            <a:ln>
              <a:noFill/>
            </a:ln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4" name="Rechteck 43"/>
            <p:cNvSpPr/>
            <p:nvPr/>
          </p:nvSpPr>
          <p:spPr>
            <a:xfrm>
              <a:off x="7045423" y="4230863"/>
              <a:ext cx="278539" cy="277812"/>
            </a:xfrm>
            <a:prstGeom prst="rect">
              <a:avLst/>
            </a:prstGeom>
            <a:solidFill>
              <a:schemeClr val="accent3">
                <a:alpha val="80000"/>
              </a:schemeClr>
            </a:solidFill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5" name="Rechteck 44"/>
            <p:cNvSpPr/>
            <p:nvPr/>
          </p:nvSpPr>
          <p:spPr>
            <a:xfrm>
              <a:off x="7045423" y="4628038"/>
              <a:ext cx="278539" cy="277812"/>
            </a:xfrm>
            <a:prstGeom prst="rect">
              <a:avLst/>
            </a:prstGeom>
            <a:solidFill>
              <a:schemeClr val="accent4">
                <a:alpha val="80000"/>
              </a:schemeClr>
            </a:solidFill>
            <a:ln>
              <a:noFill/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7" name="Rechteck 46"/>
            <p:cNvSpPr/>
            <p:nvPr/>
          </p:nvSpPr>
          <p:spPr>
            <a:xfrm>
              <a:off x="7045423" y="1847813"/>
              <a:ext cx="278539" cy="277812"/>
            </a:xfrm>
            <a:prstGeom prst="rect">
              <a:avLst/>
            </a:prstGeom>
            <a:solidFill>
              <a:schemeClr val="tx1">
                <a:alpha val="80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9" name="Gruppieren 8"/>
          <p:cNvGrpSpPr/>
          <p:nvPr/>
        </p:nvGrpSpPr>
        <p:grpSpPr>
          <a:xfrm>
            <a:off x="5817055" y="1847813"/>
            <a:ext cx="278539" cy="3455210"/>
            <a:chOff x="6274263" y="1847813"/>
            <a:chExt cx="278539" cy="3455210"/>
          </a:xfrm>
        </p:grpSpPr>
        <p:sp>
          <p:nvSpPr>
            <p:cNvPr id="56" name="Rechteck 55"/>
            <p:cNvSpPr/>
            <p:nvPr/>
          </p:nvSpPr>
          <p:spPr>
            <a:xfrm>
              <a:off x="6274263" y="5025211"/>
              <a:ext cx="278539" cy="277812"/>
            </a:xfrm>
            <a:prstGeom prst="rect">
              <a:avLst/>
            </a:prstGeom>
            <a:solidFill>
              <a:srgbClr val="EE7F00">
                <a:alpha val="40000"/>
              </a:srgb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9" name="Rechteck 48"/>
            <p:cNvSpPr/>
            <p:nvPr/>
          </p:nvSpPr>
          <p:spPr>
            <a:xfrm>
              <a:off x="6274263" y="2244988"/>
              <a:ext cx="278539" cy="277812"/>
            </a:xfrm>
            <a:prstGeom prst="rect">
              <a:avLst/>
            </a:prstGeom>
            <a:solidFill>
              <a:schemeClr val="accent2">
                <a:alpha val="40000"/>
              </a:schemeClr>
            </a:solidFill>
            <a:ln>
              <a:noFill/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0" name="Rechteck 49"/>
            <p:cNvSpPr/>
            <p:nvPr/>
          </p:nvSpPr>
          <p:spPr>
            <a:xfrm>
              <a:off x="6274263" y="2642163"/>
              <a:ext cx="278539" cy="277812"/>
            </a:xfrm>
            <a:prstGeom prst="rect">
              <a:avLst/>
            </a:prstGeom>
            <a:solidFill>
              <a:schemeClr val="accent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1" name="Rechteck 50"/>
            <p:cNvSpPr/>
            <p:nvPr/>
          </p:nvSpPr>
          <p:spPr>
            <a:xfrm>
              <a:off x="6274263" y="3039338"/>
              <a:ext cx="278539" cy="277812"/>
            </a:xfrm>
            <a:prstGeom prst="rect">
              <a:avLst/>
            </a:prstGeom>
            <a:solidFill>
              <a:schemeClr val="bg2">
                <a:alpha val="40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2" name="Rechteck 51"/>
            <p:cNvSpPr/>
            <p:nvPr/>
          </p:nvSpPr>
          <p:spPr>
            <a:xfrm>
              <a:off x="6274263" y="3436513"/>
              <a:ext cx="278539" cy="277812"/>
            </a:xfrm>
            <a:prstGeom prst="rect">
              <a:avLst/>
            </a:prstGeom>
            <a:solidFill>
              <a:schemeClr val="accent5">
                <a:alpha val="40000"/>
              </a:schemeClr>
            </a:solidFill>
            <a:ln>
              <a:noFill/>
            </a:ln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3" name="Rechteck 52"/>
            <p:cNvSpPr/>
            <p:nvPr/>
          </p:nvSpPr>
          <p:spPr>
            <a:xfrm>
              <a:off x="6274263" y="3833688"/>
              <a:ext cx="278539" cy="277812"/>
            </a:xfrm>
            <a:prstGeom prst="rect">
              <a:avLst/>
            </a:prstGeom>
            <a:solidFill>
              <a:schemeClr val="accent6">
                <a:alpha val="40000"/>
              </a:schemeClr>
            </a:solidFill>
            <a:ln>
              <a:noFill/>
            </a:ln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4" name="Rechteck 53"/>
            <p:cNvSpPr/>
            <p:nvPr/>
          </p:nvSpPr>
          <p:spPr>
            <a:xfrm>
              <a:off x="6274263" y="4230863"/>
              <a:ext cx="278539" cy="277812"/>
            </a:xfrm>
            <a:prstGeom prst="rect">
              <a:avLst/>
            </a:prstGeom>
            <a:solidFill>
              <a:schemeClr val="accent3">
                <a:alpha val="40000"/>
              </a:schemeClr>
            </a:solidFill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5" name="Rechteck 54"/>
            <p:cNvSpPr/>
            <p:nvPr/>
          </p:nvSpPr>
          <p:spPr>
            <a:xfrm>
              <a:off x="6274263" y="4628038"/>
              <a:ext cx="278539" cy="277812"/>
            </a:xfrm>
            <a:prstGeom prst="rect">
              <a:avLst/>
            </a:prstGeom>
            <a:solidFill>
              <a:schemeClr val="accent4">
                <a:alpha val="40000"/>
              </a:schemeClr>
            </a:solidFill>
            <a:ln>
              <a:noFill/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7" name="Rechteck 56"/>
            <p:cNvSpPr/>
            <p:nvPr/>
          </p:nvSpPr>
          <p:spPr>
            <a:xfrm>
              <a:off x="6274263" y="1847813"/>
              <a:ext cx="278539" cy="277812"/>
            </a:xfrm>
            <a:prstGeom prst="rect">
              <a:avLst/>
            </a:prstGeom>
            <a:solidFill>
              <a:schemeClr val="tx1">
                <a:alpha val="40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Farben</a:t>
            </a:r>
            <a:br>
              <a:rPr lang="de-DE" dirty="0"/>
            </a:br>
            <a:r>
              <a:rPr lang="de-DE" b="0" dirty="0"/>
              <a:t>Grundfarben und Varianten</a:t>
            </a:r>
          </a:p>
        </p:txBody>
      </p:sp>
      <p:sp>
        <p:nvSpPr>
          <p:cNvPr id="2" name="Inhaltsplatzhalter 1"/>
          <p:cNvSpPr>
            <a:spLocks noGrp="1"/>
          </p:cNvSpPr>
          <p:nvPr>
            <p:ph sz="quarter" idx="10"/>
          </p:nvPr>
        </p:nvSpPr>
        <p:spPr>
          <a:xfrm>
            <a:off x="874712" y="1484313"/>
            <a:ext cx="4300538" cy="4249738"/>
          </a:xfrm>
        </p:spPr>
        <p:txBody>
          <a:bodyPr>
            <a:normAutofit/>
          </a:bodyPr>
          <a:lstStyle/>
          <a:p>
            <a:pPr>
              <a:spcBef>
                <a:spcPts val="1200"/>
              </a:spcBef>
            </a:pPr>
            <a:endParaRPr lang="de-DE" dirty="0"/>
          </a:p>
          <a:p>
            <a:pPr>
              <a:spcBef>
                <a:spcPts val="1200"/>
              </a:spcBef>
            </a:pPr>
            <a:r>
              <a:rPr lang="de-DE" dirty="0"/>
              <a:t>Die </a:t>
            </a:r>
            <a:r>
              <a:rPr lang="de-DE" b="1" dirty="0"/>
              <a:t>Hausfarbe</a:t>
            </a:r>
            <a:r>
              <a:rPr lang="de-DE" dirty="0"/>
              <a:t> der TU Dresden ist </a:t>
            </a:r>
            <a:r>
              <a:rPr lang="de-DE" b="1" dirty="0"/>
              <a:t>Dunkelblau</a:t>
            </a:r>
            <a:r>
              <a:rPr lang="de-DE" dirty="0"/>
              <a:t>, Farbton HKS 41.</a:t>
            </a:r>
          </a:p>
          <a:p>
            <a:r>
              <a:rPr lang="de-DE" dirty="0"/>
              <a:t>Zudem sind eine Reihe von </a:t>
            </a:r>
            <a:r>
              <a:rPr lang="de-DE" b="1" dirty="0"/>
              <a:t>Sekundärfarben</a:t>
            </a:r>
            <a:r>
              <a:rPr lang="de-DE" dirty="0"/>
              <a:t> definiert.</a:t>
            </a:r>
          </a:p>
          <a:p>
            <a:r>
              <a:rPr lang="de-DE" dirty="0"/>
              <a:t>Die Farben können in unterschiedlicher Deckkraft eingesetzt werden. </a:t>
            </a:r>
          </a:p>
          <a:p>
            <a:r>
              <a:rPr lang="de-DE" dirty="0"/>
              <a:t>Die Farben sind direkt im </a:t>
            </a:r>
            <a:r>
              <a:rPr lang="de-DE" b="1" dirty="0"/>
              <a:t>Design „TUD_2018“</a:t>
            </a:r>
            <a:r>
              <a:rPr lang="de-DE" dirty="0"/>
              <a:t> in dieser Präsentationsvorlage eingebunden.</a:t>
            </a:r>
          </a:p>
          <a:p>
            <a:endParaRPr lang="de-DE" dirty="0"/>
          </a:p>
          <a:p>
            <a:pPr lvl="2"/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4294967295"/>
          </p:nvPr>
        </p:nvSpPr>
        <p:spPr>
          <a:xfrm>
            <a:off x="7156450" y="1484313"/>
            <a:ext cx="4309577" cy="4249737"/>
          </a:xfrm>
        </p:spPr>
        <p:txBody>
          <a:bodyPr vert="horz" lIns="108000" tIns="0" rIns="0" bIns="0" rtlCol="0">
            <a:normAutofit/>
          </a:bodyPr>
          <a:lstStyle/>
          <a:p>
            <a:pPr defTabSz="896938">
              <a:spcBef>
                <a:spcPts val="1200"/>
              </a:spcBef>
              <a:tabLst>
                <a:tab pos="1165225" algn="l"/>
              </a:tabLst>
            </a:pPr>
            <a:r>
              <a:rPr lang="de-DE" b="1" dirty="0"/>
              <a:t>Name	</a:t>
            </a:r>
            <a:r>
              <a:rPr lang="de-DE" b="1" dirty="0" err="1"/>
              <a:t>rgb</a:t>
            </a:r>
            <a:r>
              <a:rPr lang="de-DE" b="1" dirty="0"/>
              <a:t>		hex</a:t>
            </a:r>
          </a:p>
          <a:p>
            <a:pPr defTabSz="896938">
              <a:spcBef>
                <a:spcPts val="1200"/>
              </a:spcBef>
              <a:tabLst>
                <a:tab pos="1165225" algn="l"/>
              </a:tabLst>
            </a:pPr>
            <a:r>
              <a:rPr lang="de-DE" b="1" dirty="0">
                <a:solidFill>
                  <a:schemeClr val="bg1"/>
                </a:solidFill>
              </a:rPr>
              <a:t>HKS 41	0 / 48 / 94	#00305d</a:t>
            </a:r>
          </a:p>
          <a:p>
            <a:pPr defTabSz="896938">
              <a:spcBef>
                <a:spcPts val="1200"/>
              </a:spcBef>
              <a:tabLst>
                <a:tab pos="1165225" algn="l"/>
              </a:tabLst>
            </a:pPr>
            <a:r>
              <a:rPr lang="de-DE" dirty="0">
                <a:solidFill>
                  <a:schemeClr val="bg1"/>
                </a:solidFill>
              </a:rPr>
              <a:t>HKS 44	0 / 106 / 179	#006ab2</a:t>
            </a:r>
          </a:p>
          <a:p>
            <a:pPr defTabSz="896938">
              <a:spcBef>
                <a:spcPts val="1200"/>
              </a:spcBef>
              <a:tabLst>
                <a:tab pos="1165225" algn="l"/>
              </a:tabLst>
            </a:pPr>
            <a:r>
              <a:rPr lang="de-DE" dirty="0">
                <a:solidFill>
                  <a:schemeClr val="bg1"/>
                </a:solidFill>
              </a:rPr>
              <a:t>Cyan	0 / 158 / 224	#009de0</a:t>
            </a:r>
          </a:p>
          <a:p>
            <a:pPr defTabSz="896938">
              <a:spcBef>
                <a:spcPts val="1200"/>
              </a:spcBef>
              <a:tabLst>
                <a:tab pos="1165225" algn="l"/>
              </a:tabLst>
            </a:pPr>
            <a:r>
              <a:rPr lang="de-DE" dirty="0">
                <a:solidFill>
                  <a:schemeClr val="bg1"/>
                </a:solidFill>
              </a:rPr>
              <a:t>HKS 92	114 / 120 / 121	#717778</a:t>
            </a:r>
          </a:p>
          <a:p>
            <a:pPr defTabSz="896938">
              <a:spcBef>
                <a:spcPts val="1200"/>
              </a:spcBef>
              <a:tabLst>
                <a:tab pos="1165225" algn="l"/>
              </a:tabLst>
            </a:pPr>
            <a:r>
              <a:rPr lang="de-DE" dirty="0">
                <a:solidFill>
                  <a:schemeClr val="bg1"/>
                </a:solidFill>
              </a:rPr>
              <a:t>HKS 33	147 / 16 / 126 	#93107d</a:t>
            </a:r>
          </a:p>
          <a:p>
            <a:pPr defTabSz="896938">
              <a:spcBef>
                <a:spcPts val="1200"/>
              </a:spcBef>
              <a:tabLst>
                <a:tab pos="1165225" algn="l"/>
              </a:tabLst>
            </a:pPr>
            <a:r>
              <a:rPr lang="de-DE" dirty="0">
                <a:solidFill>
                  <a:schemeClr val="bg1"/>
                </a:solidFill>
              </a:rPr>
              <a:t>HKS 36	84 / 55 / 138	#54368a</a:t>
            </a:r>
          </a:p>
          <a:p>
            <a:pPr defTabSz="896938">
              <a:spcBef>
                <a:spcPts val="1200"/>
              </a:spcBef>
              <a:tabLst>
                <a:tab pos="1165225" algn="l"/>
              </a:tabLst>
            </a:pPr>
            <a:r>
              <a:rPr lang="de-DE" dirty="0">
                <a:solidFill>
                  <a:schemeClr val="bg1"/>
                </a:solidFill>
              </a:rPr>
              <a:t>HKS 65	106 / 176 / 35	#69af22</a:t>
            </a:r>
          </a:p>
          <a:p>
            <a:pPr defTabSz="896938">
              <a:spcBef>
                <a:spcPts val="1200"/>
              </a:spcBef>
              <a:tabLst>
                <a:tab pos="1165225" algn="l"/>
              </a:tabLst>
            </a:pPr>
            <a:r>
              <a:rPr lang="de-DE" dirty="0">
                <a:solidFill>
                  <a:schemeClr val="bg1"/>
                </a:solidFill>
              </a:rPr>
              <a:t>HKS 57	0 / 125 / 64	#007d3f</a:t>
            </a:r>
          </a:p>
          <a:p>
            <a:pPr defTabSz="896938">
              <a:spcBef>
                <a:spcPts val="1200"/>
              </a:spcBef>
              <a:tabLst>
                <a:tab pos="1165225" algn="l"/>
              </a:tabLst>
            </a:pPr>
            <a:r>
              <a:rPr lang="de-DE" dirty="0">
                <a:solidFill>
                  <a:schemeClr val="bg1"/>
                </a:solidFill>
              </a:rPr>
              <a:t>HKS 07	238 / 127 / 0	#ee7f00</a:t>
            </a:r>
          </a:p>
          <a:p>
            <a:pPr defTabSz="896938">
              <a:tabLst>
                <a:tab pos="1165225" algn="l"/>
              </a:tabLst>
            </a:pPr>
            <a:endParaRPr lang="de-DE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60195281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3.2|17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3.2|17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3.2|17"/>
</p:tagLst>
</file>

<file path=ppt/theme/theme1.xml><?xml version="1.0" encoding="utf-8"?>
<a:theme xmlns:a="http://schemas.openxmlformats.org/drawingml/2006/main" name="TUD_2018_16zu9">
  <a:themeElements>
    <a:clrScheme name="TUD_Farben">
      <a:dk1>
        <a:srgbClr val="00305E"/>
      </a:dk1>
      <a:lt1>
        <a:srgbClr val="FFFFFF"/>
      </a:lt1>
      <a:dk2>
        <a:srgbClr val="00305E"/>
      </a:dk2>
      <a:lt2>
        <a:srgbClr val="727879"/>
      </a:lt2>
      <a:accent1>
        <a:srgbClr val="009EE0"/>
      </a:accent1>
      <a:accent2>
        <a:srgbClr val="006AB3"/>
      </a:accent2>
      <a:accent3>
        <a:srgbClr val="6AB023"/>
      </a:accent3>
      <a:accent4>
        <a:srgbClr val="007D40"/>
      </a:accent4>
      <a:accent5>
        <a:srgbClr val="93107E"/>
      </a:accent5>
      <a:accent6>
        <a:srgbClr val="54378A"/>
      </a:accent6>
      <a:hlink>
        <a:srgbClr val="009EE0"/>
      </a:hlink>
      <a:folHlink>
        <a:srgbClr val="006AB3"/>
      </a:folHlink>
    </a:clrScheme>
    <a:fontScheme name="TUD_Open Sans">
      <a:majorFont>
        <a:latin typeface="Open Sans"/>
        <a:ea typeface=""/>
        <a:cs typeface=""/>
      </a:majorFont>
      <a:minorFont>
        <a:latin typeface="Open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äsentation_Verteidigung_0.1_ml300418.pptx" id="{5142B987-C3C6-4F2B-A2EC-E918EE1361EC}" vid="{50F240C6-41B4-4B3C-9B5F-BA4EF3220764}"/>
    </a:ext>
  </a:extLst>
</a:theme>
</file>

<file path=ppt/theme/theme2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Praesentation_Verteidigung_0-1_ml300418</Template>
  <TotalTime>0</TotalTime>
  <Words>362</Words>
  <Application>Microsoft Office PowerPoint</Application>
  <PresentationFormat>Breitbild</PresentationFormat>
  <Paragraphs>54</Paragraphs>
  <Slides>5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</vt:i4>
      </vt:variant>
    </vt:vector>
  </HeadingPairs>
  <TitlesOfParts>
    <vt:vector size="13" baseType="lpstr">
      <vt:lpstr>Symbol</vt:lpstr>
      <vt:lpstr>Arial</vt:lpstr>
      <vt:lpstr>Calibri</vt:lpstr>
      <vt:lpstr>Open Sans Extrabold</vt:lpstr>
      <vt:lpstr>Open Sans Light</vt:lpstr>
      <vt:lpstr>Open Sans Semibold</vt:lpstr>
      <vt:lpstr>Open Sans</vt:lpstr>
      <vt:lpstr>TUD_2018_16zu9</vt:lpstr>
      <vt:lpstr>Aufbau einer unabhängigen natürlich-sprachlichen Mensch-Roboter-Interaktion</vt:lpstr>
      <vt:lpstr>Gliederung</vt:lpstr>
      <vt:lpstr>Weitere Hinweise</vt:lpstr>
      <vt:lpstr>Hausschrift Open Sans</vt:lpstr>
      <vt:lpstr>Farben Grundfarben und Varianten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Aufbau einer unabhängigen natürlich-sprachlichen Mensch-Roboter-Interaktion</dc:title>
  <dc:creator>Martin</dc:creator>
  <cp:lastModifiedBy>Martin</cp:lastModifiedBy>
  <cp:revision>2</cp:revision>
  <dcterms:created xsi:type="dcterms:W3CDTF">2019-11-19T12:27:14Z</dcterms:created>
  <dcterms:modified xsi:type="dcterms:W3CDTF">2019-11-19T12:38:14Z</dcterms:modified>
</cp:coreProperties>
</file>